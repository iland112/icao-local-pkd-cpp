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ICAO Local PKD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Software Architecture v1.7.0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시스템 개요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핵심 기능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✅ LDIF/Master List 파일 업로드 및 파싱</a:t>
            </a:r>
          </a:p>
          <a:p>
            <a:pPr>
              <a:defRPr sz="1600"/>
            </a:pPr>
            <a:r>
              <a:t>✅ Trust Chain 검증 (CSCA → DSC)</a:t>
            </a:r>
          </a:p>
          <a:p>
            <a:pPr>
              <a:defRPr sz="1600"/>
            </a:pPr>
            <a:r>
              <a:t>✅ ICAO 9303 Passive Authentication</a:t>
            </a:r>
          </a:p>
          <a:p>
            <a:pPr>
              <a:defRPr sz="1600"/>
            </a:pPr>
            <a:r>
              <a:t>✅ PostgreSQL + OpenLDAP MMR 클러스터</a:t>
            </a:r>
          </a:p>
          <a:p>
            <a:pPr>
              <a:defRPr sz="1600"/>
            </a:pPr>
            <a:r>
              <a:t>✅ DB-LDAP 자동 동기화</a:t>
            </a:r>
          </a:p>
          <a:p>
            <a:pPr>
              <a:defRPr sz="1600"/>
            </a:pPr>
            <a:r>
              <a:t>✅ React 19 기반 웹 인터페이스</a:t>
            </a:r>
          </a:p>
          <a:p>
            <a:pPr>
              <a:defRPr sz="1600"/>
            </a:pPr>
            <a:r>
              <a:t>✅ ICAO Auto Sync (v1.7.0)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기술 스택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Backend: C++20 + Drogon Framework</a:t>
            </a:r>
          </a:p>
          <a:p>
            <a:pPr>
              <a:defRPr sz="1600"/>
            </a:pPr>
            <a:r>
              <a:t>Database: PostgreSQL 15</a:t>
            </a:r>
          </a:p>
          <a:p>
            <a:pPr>
              <a:defRPr sz="1600"/>
            </a:pPr>
            <a:r>
              <a:t>Directory: OpenLDAP MMR</a:t>
            </a:r>
          </a:p>
          <a:p>
            <a:pPr>
              <a:defRPr sz="1600"/>
            </a:pPr>
            <a:r>
              <a:t>Frontend: React 19 + TypeScript + Vite</a:t>
            </a:r>
          </a:p>
          <a:p>
            <a:pPr>
              <a:defRPr sz="1600"/>
            </a:pPr>
            <a:r>
              <a:t>Crypto: OpenSSL 3.x</a:t>
            </a:r>
          </a:p>
          <a:p>
            <a:pPr>
              <a:defRPr sz="1600"/>
            </a:pPr>
            <a:r>
              <a:t>Gateway: Nginx</a:t>
            </a:r>
          </a:p>
          <a:p>
            <a:pPr>
              <a:defRPr sz="1600"/>
            </a:pPr>
            <a:r>
              <a:t>Container: Docker Compose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시스템 아키텍처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5계층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097280"/>
            <a:ext cx="5486400" cy="640080"/>
          </a:xfrm>
          <a:prstGeom prst="roundRect">
            <a:avLst/>
          </a:prstGeom>
          <a:solidFill>
            <a:srgbClr val="1565C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Layer 1</a:t>
            </a:r>
          </a:p>
          <a:p>
            <a:r>
              <a:t>클라이언트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920240"/>
            <a:ext cx="5486400" cy="640080"/>
          </a:xfrm>
          <a:prstGeom prst="roundRect">
            <a:avLst/>
          </a:prstGeom>
          <a:solidFill>
            <a:srgbClr val="6A1B9A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Layer 2</a:t>
            </a:r>
          </a:p>
          <a:p>
            <a:r>
              <a:t>프론트엔드</a:t>
            </a:r>
          </a:p>
          <a:p>
            <a:r>
              <a:t>:3000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743200"/>
            <a:ext cx="5486400" cy="640080"/>
          </a:xfrm>
          <a:prstGeom prst="roundRect">
            <a:avLst/>
          </a:prstGeom>
          <a:solidFill>
            <a:srgbClr val="E651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Layer 3</a:t>
            </a:r>
          </a:p>
          <a:p>
            <a:r>
              <a:t>API Gateway</a:t>
            </a:r>
          </a:p>
          <a:p>
            <a:r>
              <a:t>:8080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566160"/>
            <a:ext cx="5486400" cy="640080"/>
          </a:xfrm>
          <a:prstGeom prst="roundRect">
            <a:avLst/>
          </a:prstGeom>
          <a:solidFill>
            <a:srgbClr val="2E7D3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Layer 4</a:t>
            </a:r>
          </a:p>
          <a:p>
            <a:r>
              <a:t>마이크로서비스</a:t>
            </a:r>
          </a:p>
          <a:p>
            <a:r>
              <a:t>8081-8083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389120"/>
            <a:ext cx="5486400" cy="640080"/>
          </a:xfrm>
          <a:prstGeom prst="roundRect">
            <a:avLst/>
          </a:prstGeom>
          <a:solidFill>
            <a:srgbClr val="AD1457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Layer 5</a:t>
            </a:r>
          </a:p>
          <a:p>
            <a:r>
              <a:t>데이터 저장소</a:t>
            </a:r>
          </a:p>
          <a:p>
            <a:r>
              <a:t>5432/389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마이크로서비스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2286000" cy="1097280"/>
          </a:xfrm>
          <a:prstGeom prst="roundRect">
            <a:avLst/>
          </a:prstGeom>
          <a:solidFill>
            <a:srgbClr val="42A5F5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PKD Management</a:t>
            </a:r>
          </a:p>
          <a:p>
            <a:r>
              <a:t>:8081</a:t>
            </a:r>
          </a:p>
          <a:p>
            <a:r>
              <a:t>업로드/인증서/ICAO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097280"/>
            <a:ext cx="2286000" cy="1097280"/>
          </a:xfrm>
          <a:prstGeom prst="roundRect">
            <a:avLst/>
          </a:prstGeom>
          <a:solidFill>
            <a:srgbClr val="66BB6A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PA Service</a:t>
            </a:r>
          </a:p>
          <a:p>
            <a:r>
              <a:t>:8082</a:t>
            </a:r>
          </a:p>
          <a:p>
            <a:r>
              <a:t>PA 검증/DG 파싱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097280"/>
            <a:ext cx="2286000" cy="1097280"/>
          </a:xfrm>
          <a:prstGeom prst="roundRect">
            <a:avLst/>
          </a:prstGeom>
          <a:solidFill>
            <a:srgbClr val="BA68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Sync Service</a:t>
            </a:r>
          </a:p>
          <a:p>
            <a:r>
              <a:t>:8083</a:t>
            </a:r>
          </a:p>
          <a:p>
            <a:r>
              <a:t>DB-LDAP 동기화</a:t>
            </a:r>
          </a:p>
        </p:txBody>
      </p:sp>
      <p:sp>
        <p:nvSpPr>
          <p:cNvPr id="7" name="Oval 6"/>
          <p:cNvSpPr/>
          <p:nvPr/>
        </p:nvSpPr>
        <p:spPr>
          <a:xfrm>
            <a:off x="2286000" y="3200400"/>
            <a:ext cx="1828800" cy="1097280"/>
          </a:xfrm>
          <a:prstGeom prst="ellipse">
            <a:avLst/>
          </a:prstGeom>
          <a:solidFill>
            <a:srgbClr val="EC407A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PostgreSQL</a:t>
            </a:r>
          </a:p>
          <a:p>
            <a:r>
              <a:t>:5432</a:t>
            </a:r>
          </a:p>
        </p:txBody>
      </p:sp>
      <p:sp>
        <p:nvSpPr>
          <p:cNvPr id="8" name="Oval 7"/>
          <p:cNvSpPr/>
          <p:nvPr/>
        </p:nvSpPr>
        <p:spPr>
          <a:xfrm>
            <a:off x="5943600" y="3200400"/>
            <a:ext cx="1828800" cy="1097280"/>
          </a:xfrm>
          <a:prstGeom prst="ellipse">
            <a:avLst/>
          </a:prstGeom>
          <a:solidFill>
            <a:srgbClr val="EC407A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OpenLDAP</a:t>
            </a:r>
          </a:p>
          <a:p>
            <a:r>
              <a:t>:389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주요 데이터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Browser → React → Nginx → PKD → PostgreSQL + LDAP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(파일 업로드 및 인증서 저장)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Browser → React → Nginx → PA → PostgreSQL + LDAP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(PA 검증 및 결과 저장)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Browser → React → Nginx → Sync → PostgreSQL + LDAP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(동기화 상태 모니터링)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마이크로서비스 상세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PKD Management (8081)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Clean Architecture 6 Layers</a:t>
            </a:r>
          </a:p>
          <a:p>
            <a:pPr>
              <a:defRPr sz="1600"/>
            </a:pPr>
            <a:r>
              <a:t>LDIF/Master List 업로드</a:t>
            </a:r>
          </a:p>
          <a:p>
            <a:pPr>
              <a:defRPr sz="1600"/>
            </a:pPr>
            <a:r>
              <a:t>Trust Chain 검증</a:t>
            </a:r>
          </a:p>
          <a:p>
            <a:pPr>
              <a:defRPr sz="1600"/>
            </a:pPr>
            <a:r>
              <a:t>인증서 검색 및 내보내기</a:t>
            </a:r>
          </a:p>
          <a:p>
            <a:pPr>
              <a:defRPr sz="1600"/>
            </a:pPr>
            <a:r>
              <a:t>ICAO Auto Sync 통합</a:t>
            </a:r>
          </a:p>
          <a:p>
            <a:pPr>
              <a:defRPr sz="1600"/>
            </a:pPr>
            <a:r>
              <a:t>Strategy Pattern (AUTO/MANUAL)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PA Service (8082)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ICAO 9303 PA 완전 준수</a:t>
            </a:r>
          </a:p>
          <a:p>
            <a:pPr>
              <a:defRPr sz="1600"/>
            </a:pPr>
            <a:r>
              <a:t>SOD CMS 서명 검증</a:t>
            </a:r>
          </a:p>
          <a:p>
            <a:pPr>
              <a:defRPr sz="1600"/>
            </a:pPr>
            <a:r>
              <a:t>DG 해시 검증</a:t>
            </a:r>
          </a:p>
          <a:p>
            <a:pPr>
              <a:defRPr sz="1600"/>
            </a:pPr>
            <a:r>
              <a:t>Trust Chain 검증</a:t>
            </a:r>
          </a:p>
          <a:p>
            <a:pPr>
              <a:defRPr sz="1600"/>
            </a:pPr>
            <a:r>
              <a:t>MRZ 파싱 (TD1/TD2/TD3)</a:t>
            </a:r>
          </a:p>
          <a:p>
            <a:pPr>
              <a:defRPr sz="1600"/>
            </a:pPr>
            <a:r>
              <a:t>얼굴 이미지 추출 (JPEG)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Sync Service (8083)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DB-LDAP 동기화 모니터링 (30초)</a:t>
            </a:r>
          </a:p>
          <a:p>
            <a:pPr>
              <a:defRPr sz="1600"/>
            </a:pPr>
            <a:r>
              <a:t>Auto Reconcile (배치 100)</a:t>
            </a:r>
          </a:p>
          <a:p>
            <a:pPr>
              <a:defRPr sz="1600"/>
            </a:pPr>
            <a:r>
              <a:t>Daily Sync (00:00 UTC)</a:t>
            </a:r>
          </a:p>
          <a:p>
            <a:pPr>
              <a:defRPr sz="1600"/>
            </a:pPr>
            <a:r>
              <a:t>Trust Chain 재검증</a:t>
            </a:r>
          </a:p>
          <a:p>
            <a:pPr>
              <a:defRPr sz="1600"/>
            </a:pPr>
            <a:r>
              <a:t>불일치 자동 조정</a:t>
            </a:r>
          </a:p>
          <a:p>
            <a:pPr>
              <a:defRPr sz="1600"/>
            </a:pPr>
            <a:r>
              <a:t>조정 이력 추적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데이터 계층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PostgreSQL 테이블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uploaded_file: 업로드 파일 메타데이터</a:t>
            </a:r>
          </a:p>
          <a:p>
            <a:pPr>
              <a:defRPr sz="1600"/>
            </a:pPr>
            <a:r>
              <a:t>certificate: 인증서 (30,637개)</a:t>
            </a:r>
          </a:p>
          <a:p>
            <a:pPr>
              <a:defRPr sz="1600"/>
            </a:pPr>
            <a:r>
              <a:t>crl: 인증서 폐기 목록</a:t>
            </a:r>
          </a:p>
          <a:p>
            <a:pPr>
              <a:defRPr sz="1600"/>
            </a:pPr>
            <a:r>
              <a:t>master_list: ICAO Master List</a:t>
            </a:r>
          </a:p>
          <a:p>
            <a:pPr>
              <a:defRPr sz="1600"/>
            </a:pPr>
            <a:r>
              <a:t>validation_result: Trust Chain 검증</a:t>
            </a:r>
          </a:p>
          <a:p>
            <a:pPr>
              <a:defRPr sz="1600"/>
            </a:pPr>
            <a:r>
              <a:t>pa_verification: PA 검증 이력</a:t>
            </a:r>
          </a:p>
          <a:p>
            <a:pPr>
              <a:defRPr sz="1600"/>
            </a:pPr>
            <a:r>
              <a:t>sync_status: 동기화 상태</a:t>
            </a:r>
          </a:p>
          <a:p>
            <a:pPr>
              <a:defRPr sz="1600"/>
            </a:pPr>
            <a:r>
              <a:t>reconciliation_summary: 조정 요약</a:t>
            </a:r>
          </a:p>
          <a:p>
            <a:pPr>
              <a:defRPr sz="1600"/>
            </a:pPr>
            <a:r>
              <a:t>icao_pkd_versions: ICAO 버전 추적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LDAP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dc=ldap,dc=smartcoreinc,dc=com</a:t>
            </a:r>
          </a:p>
          <a:p>
            <a:pPr>
              <a:defRPr sz="1600"/>
            </a:pPr>
            <a:r>
              <a:t>  └─ dc=pkd</a:t>
            </a:r>
          </a:p>
          <a:p>
            <a:pPr>
              <a:defRPr sz="1600"/>
            </a:pPr>
            <a:r>
              <a:t>      └─ dc=download</a:t>
            </a:r>
          </a:p>
          <a:p>
            <a:pPr>
              <a:defRPr sz="1600"/>
            </a:pPr>
            <a:r>
              <a:t>          ├─ dc=data (193개 국가)</a:t>
            </a:r>
          </a:p>
          <a:p>
            <a:pPr>
              <a:defRPr sz="1600"/>
            </a:pPr>
            <a:r>
              <a:t>          │   └─ c=KR/US/JP...</a:t>
            </a:r>
          </a:p>
          <a:p>
            <a:pPr>
              <a:defRPr sz="1600"/>
            </a:pPr>
            <a:r>
              <a:t>          │       ├─ o=csca</a:t>
            </a:r>
          </a:p>
          <a:p>
            <a:pPr>
              <a:defRPr sz="1600"/>
            </a:pPr>
            <a:r>
              <a:t>          │       ├─ o=dsc</a:t>
            </a:r>
          </a:p>
          <a:p>
            <a:pPr>
              <a:defRPr sz="1600"/>
            </a:pPr>
            <a:r>
              <a:t>          │       ├─ o=crl</a:t>
            </a:r>
          </a:p>
          <a:p>
            <a:pPr>
              <a:defRPr sz="1600"/>
            </a:pPr>
            <a:r>
              <a:t>          │       └─ o=ml</a:t>
            </a:r>
          </a:p>
          <a:p>
            <a:pPr>
              <a:defRPr sz="1600"/>
            </a:pPr>
            <a:r>
              <a:t>          └─ dc=nc-data (Non-Conformant)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배포 아키텍처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Docker 컨테이너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Frontend: Nginx + React (3000)</a:t>
            </a:r>
          </a:p>
          <a:p>
            <a:pPr>
              <a:defRPr sz="1600"/>
            </a:pPr>
            <a:r>
              <a:t>API Gateway: Nginx (8080)</a:t>
            </a:r>
          </a:p>
          <a:p>
            <a:pPr>
              <a:defRPr sz="1600"/>
            </a:pPr>
            <a:r>
              <a:t>PKD Management: C++ (8081)</a:t>
            </a:r>
          </a:p>
          <a:p>
            <a:pPr>
              <a:defRPr sz="1600"/>
            </a:pPr>
            <a:r>
              <a:t>PA Service: C++ (8082)</a:t>
            </a:r>
          </a:p>
          <a:p>
            <a:pPr>
              <a:defRPr sz="1600"/>
            </a:pPr>
            <a:r>
              <a:t>Sync Service: C++ (8083)</a:t>
            </a:r>
          </a:p>
          <a:p>
            <a:pPr>
              <a:defRPr sz="1600"/>
            </a:pPr>
            <a:r>
              <a:t>PostgreSQL: DB (5432)</a:t>
            </a:r>
          </a:p>
          <a:p>
            <a:pPr>
              <a:defRPr sz="1600"/>
            </a:pPr>
            <a:r>
              <a:t>OpenLDAP1/2: MMR (3891/3892)</a:t>
            </a:r>
          </a:p>
          <a:p>
            <a:pPr>
              <a:defRPr sz="1600"/>
            </a:pPr>
            <a:r>
              <a:t>HAProxy: LDAP LB (389)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Luckfox ARM64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Device: Luckfox Pico</a:t>
            </a:r>
          </a:p>
          <a:p>
            <a:pPr>
              <a:defRPr sz="1600"/>
            </a:pPr>
            <a:r>
              <a:t>IP: 192.168.100.11</a:t>
            </a:r>
          </a:p>
          <a:p>
            <a:pPr>
              <a:defRPr sz="1600"/>
            </a:pPr>
            <a:r>
              <a:t>Network: Host Mode</a:t>
            </a:r>
          </a:p>
          <a:p>
            <a:pPr>
              <a:defRPr sz="1600"/>
            </a:pPr>
            <a:r>
              <a:t>Build: GitHub Actions</a:t>
            </a:r>
          </a:p>
          <a:p>
            <a:pPr>
              <a:defRPr sz="1600"/>
            </a:pPr>
            <a:r>
              <a:t>Deploy: OCI → Docker (skopeo)</a:t>
            </a:r>
          </a:p>
          <a:p>
            <a:pPr>
              <a:defRPr sz="1600"/>
            </a:pPr>
            <a:r>
              <a:t>Transfer: sshpass</a:t>
            </a:r>
          </a:p>
          <a:p>
            <a:pPr>
              <a:defRPr sz="1600"/>
            </a:pPr>
            <a:r>
              <a:t>Total: 10 containers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성능 및 보안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성능 지표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Certificate Search: 2,222 req/s</a:t>
            </a:r>
          </a:p>
          <a:p>
            <a:pPr>
              <a:defRPr sz="1600"/>
            </a:pPr>
            <a:r>
              <a:t>PA Verification: 416 req/s</a:t>
            </a:r>
          </a:p>
          <a:p>
            <a:pPr>
              <a:defRPr sz="1600"/>
            </a:pPr>
            <a:r>
              <a:t>API Latency: &lt;100ms</a:t>
            </a:r>
          </a:p>
          <a:p>
            <a:pPr>
              <a:defRPr sz="1600"/>
            </a:pPr>
            <a:r>
              <a:t>DB Query: 40ms</a:t>
            </a:r>
          </a:p>
          <a:p>
            <a:pPr>
              <a:defRPr sz="1600"/>
            </a:pPr>
            <a:r>
              <a:t>LDAP Search: &lt;200ms</a:t>
            </a:r>
          </a:p>
          <a:p>
            <a:pPr>
              <a:defRPr sz="1600"/>
            </a:pPr>
            <a:r>
              <a:t>Certificates: 30,637개</a:t>
            </a:r>
          </a:p>
          <a:p>
            <a:pPr>
              <a:defRPr sz="1600"/>
            </a:pPr>
            <a:r>
              <a:t>Concurrent Users: 1,000+ 테스트 완료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보안 레이어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네트워크: 방화벽 + Docker 격리</a:t>
            </a:r>
          </a:p>
          <a:p>
            <a:pPr>
              <a:defRPr sz="1600"/>
            </a:pPr>
            <a:r>
              <a:t>애플리케이션: Rate Limiting (100/s)</a:t>
            </a:r>
          </a:p>
          <a:p>
            <a:pPr>
              <a:defRPr sz="1600"/>
            </a:pPr>
            <a:r>
              <a:t>            CORS + CSP</a:t>
            </a:r>
          </a:p>
          <a:p>
            <a:pPr>
              <a:defRPr sz="1600"/>
            </a:pPr>
            <a:r>
              <a:t>데이터: PostgreSQL 인증</a:t>
            </a:r>
          </a:p>
          <a:p>
            <a:pPr>
              <a:defRPr sz="1600"/>
            </a:pPr>
            <a:r>
              <a:t>      LDAP Bind</a:t>
            </a:r>
          </a:p>
          <a:p>
            <a:pPr>
              <a:defRPr sz="1600"/>
            </a:pPr>
            <a:r>
              <a:t>      TLS/SSL 지원</a:t>
            </a:r>
          </a:p>
          <a:p>
            <a:pPr>
              <a:defRPr sz="1600"/>
            </a:pPr>
            <a:r>
              <a:t>코드: SQL 인젝션 방지</a:t>
            </a:r>
          </a:p>
          <a:p>
            <a:pPr>
              <a:defRPr sz="1600"/>
            </a:pPr>
            <a:r>
              <a:t>      XSS 방지</a:t>
            </a:r>
          </a:p>
          <a:p>
            <a:pPr>
              <a:defRPr sz="1600"/>
            </a:pPr>
            <a:r>
              <a:t>      매개변수화 쿼리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ICAO Auto Sync v1.7.0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자동 동기화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매일 08:00 자동 버전 체크</a:t>
            </a:r>
          </a:p>
          <a:p>
            <a:pPr>
              <a:defRPr sz="1600"/>
            </a:pPr>
            <a:r>
              <a:t>ICAO PKD 포털 HTML 파싱</a:t>
            </a:r>
          </a:p>
          <a:p>
            <a:pPr>
              <a:defRPr sz="1600"/>
            </a:pPr>
            <a:r>
              <a:t>Collection 001/002/003 추적</a:t>
            </a:r>
          </a:p>
          <a:p>
            <a:pPr>
              <a:defRPr sz="1600"/>
            </a:pPr>
            <a:r>
              <a:t>신규 버전 감지 시 알림</a:t>
            </a:r>
          </a:p>
          <a:p>
            <a:pPr>
              <a:defRPr sz="1600"/>
            </a:pPr>
            <a:r>
              <a:t>이메일 발송 지원</a:t>
            </a:r>
          </a:p>
          <a:p>
            <a:pPr>
              <a:defRPr sz="1600"/>
            </a:pPr>
            <a:r>
              <a:t>프론트엔드 배지 표시</a:t>
            </a:r>
          </a:p>
          <a:p>
            <a:pPr>
              <a:defRPr sz="1600"/>
            </a:pPr>
            <a:r>
              <a:t>icao_pkd_versions 저장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요약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주요 성과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✅ Production Ready (v1.7.0)</a:t>
            </a:r>
          </a:p>
          <a:p>
            <a:pPr>
              <a:defRPr sz="1600"/>
            </a:pPr>
            <a:r>
              <a:t>✅ 30,637개 인증서 관리</a:t>
            </a:r>
          </a:p>
          <a:p>
            <a:pPr>
              <a:defRPr sz="1600"/>
            </a:pPr>
            <a:r>
              <a:t>✅ 5,868개 Trust Chain 검증</a:t>
            </a:r>
          </a:p>
          <a:p>
            <a:pPr>
              <a:defRPr sz="1600"/>
            </a:pPr>
            <a:r>
              <a:t>✅ ICAO 9303 완전 준수</a:t>
            </a:r>
          </a:p>
          <a:p>
            <a:pPr>
              <a:defRPr sz="1600"/>
            </a:pPr>
            <a:r>
              <a:t>✅ 고성능 (2,222 req/s)</a:t>
            </a:r>
          </a:p>
          <a:p>
            <a:pPr>
              <a:defRPr sz="1600"/>
            </a:pPr>
            <a:r>
              <a:t>✅ ARM64 배포 완료</a:t>
            </a:r>
          </a:p>
          <a:p>
            <a:pPr>
              <a:defRPr sz="1600"/>
            </a:pPr>
            <a:r>
              <a:t>✅ 완전 자동화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