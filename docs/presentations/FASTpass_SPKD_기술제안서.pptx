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webextensions/taskpanes.xml" ContentType="application/vnd.ms-office.webextensiontaskpanes+xml"/>
  <Override PartName="/ppt/webextensions/webextension1.xml" ContentType="application/vnd.ms-office.webextension+xml"/>
</Types>
</file>

<file path=_rels/.rels><?xml version='1.0' encoding='UTF-8' standalone='yes'?>
<Relationships xmlns="http://schemas.openxmlformats.org/package/2006/relationships"><Relationship Id="rId1" Type="http://schemas.microsoft.com/office/2011/relationships/webextensiontaskpanes" Target="ppt/webextensions/taskpanes.xml"/><Relationship Id="rId2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60" r:id="rId4"/>
  </p:sldMasterIdLst>
  <p:notesMasterIdLst>
    <p:notesMasterId r:id="rId11"/>
  </p:notesMasterIdLst>
  <p:sldIdLst>
    <p:sldId id="256" r:id="rId10"/>
    <p:sldId id="257" r:id="rId9"/>
    <p:sldId id="258" r:id="rId8"/>
    <p:sldId id="259" r:id="rId7"/>
    <p:sldId id="260" r:id="rId6"/>
    <p:sldId id="261" r:id="rId5"/>
    <p:sldId id="262" r:id="rId23"/>
    <p:sldId id="263" r:id="rId24"/>
    <p:sldId id="264" r:id="rId25"/>
    <p:sldId id="265" r:id="rId26"/>
    <p:sldId id="266" r:id="rId27"/>
    <p:sldId id="267" r:id="rId28"/>
    <p:sldId id="268" r:id="rId29"/>
    <p:sldId id="269" r:id="rId30"/>
    <p:sldId id="270" r:id="rId31"/>
    <p:sldId id="271" r:id="rId32"/>
    <p:sldId id="272" r:id="rId33"/>
    <p:sldId id="273" r:id="rId34"/>
    <p:sldId id="274" r:id="rId35"/>
    <p:sldId id="275" r:id="rId36"/>
    <p:sldId id="276" r:id="rId37"/>
    <p:sldId id="277" r:id="rId38"/>
    <p:sldId id="278" r:id="rId39"/>
    <p:sldId id="279" r:id="rId40"/>
    <p:sldId id="280" r:id="rId41"/>
  </p:sldIdLst>
  <p:sldSz cx="10693400" cy="7561263"/>
  <p:notesSz cx="6888163" cy="10018713"/>
  <p:embeddedFontLst>
    <p:embeddedFont>
      <p:font typeface="나눔바른고딕" panose="020B0600000101010101" charset="-127"/>
      <p:regular r:id="rId12"/>
      <p:bold r:id="rId13"/>
    </p:embeddedFont>
    <p:embeddedFont>
      <p:font typeface="나눔스퀘어" panose="020B0600000101010101" pitchFamily="50" charset="-127"/>
      <p:regular r:id="rId14"/>
    </p:embeddedFont>
    <p:embeddedFont>
      <p:font typeface="나눔스퀘어 Bold" panose="020B0600000101010101" pitchFamily="50" charset="-127"/>
      <p:bold r:id="rId15"/>
    </p:embeddedFont>
    <p:embeddedFont>
      <p:font typeface="나눔스퀘어 ExtraBold" panose="020B0600000101010101" pitchFamily="50" charset="-127"/>
      <p:bold r:id="rId16"/>
    </p:embeddedFont>
    <p:embeddedFont>
      <p:font typeface="맑은 고딕" panose="020B0503020000020004" pitchFamily="50" charset="-127"/>
      <p:regular r:id="rId17"/>
      <p:bold r:id="rId18"/>
    </p:embeddedFont>
  </p:embeddedFontLst>
  <p:defaultTextStyle>
    <a:defPPr>
      <a:defRPr lang="en-US"/>
    </a:defPPr>
    <a:lvl1pPr marL="0" algn="l" defTabSz="497845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1pPr>
    <a:lvl2pPr marL="497845" algn="l" defTabSz="497845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2pPr>
    <a:lvl3pPr marL="995690" algn="l" defTabSz="497845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3pPr>
    <a:lvl4pPr marL="1493535" algn="l" defTabSz="497845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4pPr>
    <a:lvl5pPr marL="1991380" algn="l" defTabSz="497845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5pPr>
    <a:lvl6pPr marL="2489225" algn="l" defTabSz="497845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6pPr>
    <a:lvl7pPr marL="2987070" algn="l" defTabSz="497845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7pPr>
    <a:lvl8pPr marL="3484916" algn="l" defTabSz="497845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8pPr>
    <a:lvl9pPr marL="3982761" algn="l" defTabSz="497845" rtl="0" eaLnBrk="1" latinLnBrk="0" hangingPunct="1">
      <a:defRPr sz="20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3120" userDrawn="1">
          <p15:clr>
            <a:srgbClr val="A4A3A4"/>
          </p15:clr>
        </p15:guide>
        <p15:guide id="3" pos="240" userDrawn="1">
          <p15:clr>
            <a:srgbClr val="A4A3A4"/>
          </p15:clr>
        </p15:guide>
        <p15:guide id="4" pos="5955" userDrawn="1">
          <p15:clr>
            <a:srgbClr val="A4A3A4"/>
          </p15:clr>
        </p15:guide>
        <p15:guide id="5" orient="horz" pos="1933" userDrawn="1">
          <p15:clr>
            <a:srgbClr val="A4A3A4"/>
          </p15:clr>
        </p15:guide>
        <p15:guide id="6" orient="horz" pos="2407">
          <p15:clr>
            <a:srgbClr val="A4A3A4"/>
          </p15:clr>
        </p15:guide>
        <p15:guide id="7" orient="horz" pos="2131">
          <p15:clr>
            <a:srgbClr val="A4A3A4"/>
          </p15:clr>
        </p15:guide>
        <p15:guide id="8" orient="horz" pos="4583">
          <p15:clr>
            <a:srgbClr val="A4A3A4"/>
          </p15:clr>
        </p15:guide>
        <p15:guide id="9" orient="horz" pos="277">
          <p15:clr>
            <a:srgbClr val="A4A3A4"/>
          </p15:clr>
        </p15:guide>
        <p15:guide id="10" pos="3368">
          <p15:clr>
            <a:srgbClr val="A4A3A4"/>
          </p15:clr>
        </p15:guide>
        <p15:guide id="11" pos="259">
          <p15:clr>
            <a:srgbClr val="A4A3A4"/>
          </p15:clr>
        </p15:guide>
        <p15:guide id="12" pos="6428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CEDE7"/>
    <a:srgbClr val="EBECE6"/>
    <a:srgbClr val="EAB200"/>
    <a:srgbClr val="7F6000"/>
    <a:srgbClr val="ECEBF0"/>
    <a:srgbClr val="EAEBE6"/>
    <a:srgbClr val="EFEDEE"/>
    <a:srgbClr val="EAEAEA"/>
    <a:srgbClr val="E4CF84"/>
    <a:srgbClr val="69D8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8034E78-7F5D-4C2E-B375-FC64B27BC917}" styleName="어두운 스타일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1FECB4D8-DB02-4DC6-A0A2-4F2EBAE1DC90}" styleName="보통 스타일 1 - 강조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9" autoAdjust="0"/>
    <p:restoredTop sz="94458" autoAdjust="0"/>
  </p:normalViewPr>
  <p:slideViewPr>
    <p:cSldViewPr snapToGrid="0">
      <p:cViewPr varScale="1">
        <p:scale>
          <a:sx n="90" d="100"/>
          <a:sy n="90" d="100"/>
        </p:scale>
        <p:origin x="1686" y="96"/>
      </p:cViewPr>
      <p:guideLst>
        <p:guide orient="horz" pos="2183"/>
        <p:guide pos="3120"/>
        <p:guide pos="240"/>
        <p:guide pos="5955"/>
        <p:guide orient="horz" pos="1933"/>
        <p:guide orient="horz" pos="2407"/>
        <p:guide orient="horz" pos="2131"/>
        <p:guide orient="horz" pos="4583"/>
        <p:guide orient="horz" pos="277"/>
        <p:guide pos="3368"/>
        <p:guide pos="259"/>
        <p:guide pos="6428"/>
      </p:guideLst>
    </p:cSldViewPr>
  </p:slideViewPr>
  <p:outlineViewPr>
    <p:cViewPr>
      <p:scale>
        <a:sx n="50" d="100"/>
        <a:sy n="50" d="100"/>
      </p:scale>
      <p:origin x="0" y="-456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00" d="100"/>
        <a:sy n="100" d="100"/>
      </p:scale>
      <p:origin x="0" y="-360"/>
    </p:cViewPr>
  </p:sorterViewPr>
  <p:notesViewPr>
    <p:cSldViewPr snapToGrid="0" showGuides="1">
      <p:cViewPr varScale="1">
        <p:scale>
          <a:sx n="105" d="100"/>
          <a:sy n="105" d="100"/>
        </p:scale>
        <p:origin x="2754" y="120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6.xml"/><Relationship Id="rId6" Type="http://schemas.openxmlformats.org/officeDocument/2006/relationships/slide" Target="slides/slide5.xml"/><Relationship Id="rId7" Type="http://schemas.openxmlformats.org/officeDocument/2006/relationships/slide" Target="slides/slide4.xml"/><Relationship Id="rId8" Type="http://schemas.openxmlformats.org/officeDocument/2006/relationships/slide" Target="slides/slide3.xml"/><Relationship Id="rId9" Type="http://schemas.openxmlformats.org/officeDocument/2006/relationships/slide" Target="slides/slide2.xml"/><Relationship Id="rId10" Type="http://schemas.openxmlformats.org/officeDocument/2006/relationships/slide" Target="slides/slide1.xml"/><Relationship Id="rId11" Type="http://schemas.openxmlformats.org/officeDocument/2006/relationships/notesMaster" Target="notesMasters/notesMaster1.xml"/><Relationship Id="rId12" Type="http://schemas.openxmlformats.org/officeDocument/2006/relationships/font" Target="fonts/font1.fntdata"/><Relationship Id="rId13" Type="http://schemas.openxmlformats.org/officeDocument/2006/relationships/font" Target="fonts/font2.fntdata"/><Relationship Id="rId14" Type="http://schemas.openxmlformats.org/officeDocument/2006/relationships/font" Target="fonts/font3.fntdata"/><Relationship Id="rId15" Type="http://schemas.openxmlformats.org/officeDocument/2006/relationships/font" Target="fonts/font4.fntdata"/><Relationship Id="rId16" Type="http://schemas.openxmlformats.org/officeDocument/2006/relationships/font" Target="fonts/font5.fntdata"/><Relationship Id="rId17" Type="http://schemas.openxmlformats.org/officeDocument/2006/relationships/font" Target="fonts/font6.fntdata"/><Relationship Id="rId18" Type="http://schemas.openxmlformats.org/officeDocument/2006/relationships/font" Target="fonts/font7.fntdata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Relationship Id="rId23" Type="http://schemas.openxmlformats.org/officeDocument/2006/relationships/slide" Target="slides/slide7.xml"/><Relationship Id="rId24" Type="http://schemas.openxmlformats.org/officeDocument/2006/relationships/slide" Target="slides/slide8.xml"/><Relationship Id="rId25" Type="http://schemas.openxmlformats.org/officeDocument/2006/relationships/slide" Target="slides/slide9.xml"/><Relationship Id="rId26" Type="http://schemas.openxmlformats.org/officeDocument/2006/relationships/slide" Target="slides/slide10.xml"/><Relationship Id="rId27" Type="http://schemas.openxmlformats.org/officeDocument/2006/relationships/slide" Target="slides/slide11.xml"/><Relationship Id="rId28" Type="http://schemas.openxmlformats.org/officeDocument/2006/relationships/slide" Target="slides/slide12.xml"/><Relationship Id="rId29" Type="http://schemas.openxmlformats.org/officeDocument/2006/relationships/slide" Target="slides/slide13.xml"/><Relationship Id="rId30" Type="http://schemas.openxmlformats.org/officeDocument/2006/relationships/slide" Target="slides/slide14.xml"/><Relationship Id="rId31" Type="http://schemas.openxmlformats.org/officeDocument/2006/relationships/slide" Target="slides/slide15.xml"/><Relationship Id="rId32" Type="http://schemas.openxmlformats.org/officeDocument/2006/relationships/slide" Target="slides/slide16.xml"/><Relationship Id="rId33" Type="http://schemas.openxmlformats.org/officeDocument/2006/relationships/slide" Target="slides/slide17.xml"/><Relationship Id="rId34" Type="http://schemas.openxmlformats.org/officeDocument/2006/relationships/slide" Target="slides/slide18.xml"/><Relationship Id="rId35" Type="http://schemas.openxmlformats.org/officeDocument/2006/relationships/slide" Target="slides/slide19.xml"/><Relationship Id="rId36" Type="http://schemas.openxmlformats.org/officeDocument/2006/relationships/slide" Target="slides/slide20.xml"/><Relationship Id="rId37" Type="http://schemas.openxmlformats.org/officeDocument/2006/relationships/slide" Target="slides/slide21.xml"/><Relationship Id="rId38" Type="http://schemas.openxmlformats.org/officeDocument/2006/relationships/slide" Target="slides/slide22.xml"/><Relationship Id="rId39" Type="http://schemas.openxmlformats.org/officeDocument/2006/relationships/slide" Target="slides/slide23.xml"/><Relationship Id="rId40" Type="http://schemas.openxmlformats.org/officeDocument/2006/relationships/slide" Target="slides/slide24.xml"/><Relationship Id="rId41" Type="http://schemas.openxmlformats.org/officeDocument/2006/relationships/slide" Target="slides/slide2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984870" cy="502676"/>
          </a:xfrm>
          <a:prstGeom prst="rect">
            <a:avLst/>
          </a:prstGeom>
        </p:spPr>
        <p:txBody>
          <a:bodyPr vert="horz" lIns="92437" tIns="46218" rIns="92437" bIns="46218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901699" y="0"/>
            <a:ext cx="2984870" cy="502676"/>
          </a:xfrm>
          <a:prstGeom prst="rect">
            <a:avLst/>
          </a:prstGeom>
        </p:spPr>
        <p:txBody>
          <a:bodyPr vert="horz" lIns="92437" tIns="46218" rIns="92437" bIns="46218" rtlCol="0"/>
          <a:lstStyle>
            <a:lvl1pPr algn="r">
              <a:defRPr sz="1200"/>
            </a:lvl1pPr>
          </a:lstStyle>
          <a:p>
            <a:fld id="{60E2C7AA-8C1D-409A-A3DD-3B5A4B79A48B}" type="datetimeFigureOut">
              <a:rPr lang="ko-KR" altLang="en-US" smtClean="0"/>
              <a:t>2026-03-16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052513" y="1252538"/>
            <a:ext cx="4783137" cy="33813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437" tIns="46218" rIns="92437" bIns="46218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8817" y="4821505"/>
            <a:ext cx="5510530" cy="3944869"/>
          </a:xfrm>
          <a:prstGeom prst="rect">
            <a:avLst/>
          </a:prstGeom>
        </p:spPr>
        <p:txBody>
          <a:bodyPr vert="horz" lIns="92437" tIns="46218" rIns="92437" bIns="46218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1" y="9516040"/>
            <a:ext cx="2984870" cy="502675"/>
          </a:xfrm>
          <a:prstGeom prst="rect">
            <a:avLst/>
          </a:prstGeom>
        </p:spPr>
        <p:txBody>
          <a:bodyPr vert="horz" lIns="92437" tIns="46218" rIns="92437" bIns="46218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901699" y="9516040"/>
            <a:ext cx="2984870" cy="502675"/>
          </a:xfrm>
          <a:prstGeom prst="rect">
            <a:avLst/>
          </a:prstGeom>
        </p:spPr>
        <p:txBody>
          <a:bodyPr vert="horz" lIns="92437" tIns="46218" rIns="92437" bIns="46218" rtlCol="0" anchor="b"/>
          <a:lstStyle>
            <a:lvl1pPr algn="r">
              <a:defRPr sz="1200"/>
            </a:lvl1pPr>
          </a:lstStyle>
          <a:p>
            <a:fld id="{B44E9BFE-F93C-4A38-839D-B1ADA154C3B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855392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95690" rtl="0" eaLnBrk="1" latinLnBrk="1" hangingPunct="1">
      <a:defRPr sz="1300" kern="1200">
        <a:solidFill>
          <a:schemeClr val="tx1"/>
        </a:solidFill>
        <a:latin typeface="+mn-lt"/>
        <a:ea typeface="+mn-ea"/>
        <a:cs typeface="+mn-cs"/>
      </a:defRPr>
    </a:lvl1pPr>
    <a:lvl2pPr marL="497845" algn="l" defTabSz="995690" rtl="0" eaLnBrk="1" latinLnBrk="1" hangingPunct="1">
      <a:defRPr sz="1300" kern="1200">
        <a:solidFill>
          <a:schemeClr val="tx1"/>
        </a:solidFill>
        <a:latin typeface="+mn-lt"/>
        <a:ea typeface="+mn-ea"/>
        <a:cs typeface="+mn-cs"/>
      </a:defRPr>
    </a:lvl2pPr>
    <a:lvl3pPr marL="995690" algn="l" defTabSz="995690" rtl="0" eaLnBrk="1" latinLnBrk="1" hangingPunct="1">
      <a:defRPr sz="1300" kern="1200">
        <a:solidFill>
          <a:schemeClr val="tx1"/>
        </a:solidFill>
        <a:latin typeface="+mn-lt"/>
        <a:ea typeface="+mn-ea"/>
        <a:cs typeface="+mn-cs"/>
      </a:defRPr>
    </a:lvl3pPr>
    <a:lvl4pPr marL="1493535" algn="l" defTabSz="995690" rtl="0" eaLnBrk="1" latinLnBrk="1" hangingPunct="1">
      <a:defRPr sz="1300" kern="1200">
        <a:solidFill>
          <a:schemeClr val="tx1"/>
        </a:solidFill>
        <a:latin typeface="+mn-lt"/>
        <a:ea typeface="+mn-ea"/>
        <a:cs typeface="+mn-cs"/>
      </a:defRPr>
    </a:lvl4pPr>
    <a:lvl5pPr marL="1991380" algn="l" defTabSz="995690" rtl="0" eaLnBrk="1" latinLnBrk="1" hangingPunct="1">
      <a:defRPr sz="1300" kern="1200">
        <a:solidFill>
          <a:schemeClr val="tx1"/>
        </a:solidFill>
        <a:latin typeface="+mn-lt"/>
        <a:ea typeface="+mn-ea"/>
        <a:cs typeface="+mn-cs"/>
      </a:defRPr>
    </a:lvl5pPr>
    <a:lvl6pPr marL="2489225" algn="l" defTabSz="995690" rtl="0" eaLnBrk="1" latinLnBrk="1" hangingPunct="1">
      <a:defRPr sz="1300" kern="1200">
        <a:solidFill>
          <a:schemeClr val="tx1"/>
        </a:solidFill>
        <a:latin typeface="+mn-lt"/>
        <a:ea typeface="+mn-ea"/>
        <a:cs typeface="+mn-cs"/>
      </a:defRPr>
    </a:lvl6pPr>
    <a:lvl7pPr marL="2987070" algn="l" defTabSz="995690" rtl="0" eaLnBrk="1" latinLnBrk="1" hangingPunct="1">
      <a:defRPr sz="1300" kern="1200">
        <a:solidFill>
          <a:schemeClr val="tx1"/>
        </a:solidFill>
        <a:latin typeface="+mn-lt"/>
        <a:ea typeface="+mn-ea"/>
        <a:cs typeface="+mn-cs"/>
      </a:defRPr>
    </a:lvl7pPr>
    <a:lvl8pPr marL="3484916" algn="l" defTabSz="995690" rtl="0" eaLnBrk="1" latinLnBrk="1" hangingPunct="1">
      <a:defRPr sz="1300" kern="1200">
        <a:solidFill>
          <a:schemeClr val="tx1"/>
        </a:solidFill>
        <a:latin typeface="+mn-lt"/>
        <a:ea typeface="+mn-ea"/>
        <a:cs typeface="+mn-cs"/>
      </a:defRPr>
    </a:lvl8pPr>
    <a:lvl9pPr marL="3982761" algn="l" defTabSz="995690" rtl="0" eaLnBrk="1" latinLnBrk="1" hangingPunct="1">
      <a:defRPr sz="13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microsoft.com/office/2007/relationships/hdphoto" Target="../media/hdphoto1.wdp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microsoft.com/office/2007/relationships/hdphoto" Target="../media/hdphoto2.wdp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microsoft.com/office/2007/relationships/hdphoto" Target="../media/hdphoto2.wdp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microsoft.com/office/2007/relationships/hdphoto" Target="../media/hdphoto2.wdp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microsoft.com/office/2007/relationships/hdphoto" Target="../media/hdphoto2.wdp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microsoft.com/office/2007/relationships/hdphoto" Target="../media/hdphoto2.wdp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Relationship Id="rId3" Type="http://schemas.openxmlformats.org/officeDocument/2006/relationships/image" Target="../media/image2.png"/><Relationship Id="rId4" Type="http://schemas.microsoft.com/office/2007/relationships/hdphoto" Target="../media/hdphoto2.wdp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Relationship Id="rId3" Type="http://schemas.openxmlformats.org/officeDocument/2006/relationships/image" Target="../media/image2.png"/><Relationship Id="rId4" Type="http://schemas.microsoft.com/office/2007/relationships/hdphoto" Target="../media/hdphoto2.wdp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eg"/><Relationship Id="rId3" Type="http://schemas.openxmlformats.org/officeDocument/2006/relationships/image" Target="../media/image2.png"/><Relationship Id="rId4" Type="http://schemas.microsoft.com/office/2007/relationships/hdphoto" Target="../media/hdphoto2.wdp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Relationship Id="rId3" Type="http://schemas.openxmlformats.org/officeDocument/2006/relationships/image" Target="../media/image1.png"/><Relationship Id="rId4" Type="http://schemas.microsoft.com/office/2007/relationships/hdphoto" Target="../media/hdphoto1.wdp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microsoft.com/office/2007/relationships/hdphoto" Target="../media/hdphoto1.wdp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microsoft.com/office/2007/relationships/hdphoto" Target="../media/hdphoto2.wdp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microsoft.com/office/2007/relationships/hdphoto" Target="../media/hdphoto2.wdp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943705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434" y="7289537"/>
            <a:ext cx="1124881" cy="124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27671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2E8BB97C-17AB-4344-B825-6E85A7EBF073}"/>
              </a:ext>
            </a:extLst>
          </p:cNvPr>
          <p:cNvSpPr txBox="1">
            <a:spLocks/>
          </p:cNvSpPr>
          <p:nvPr userDrawn="1"/>
        </p:nvSpPr>
        <p:spPr>
          <a:xfrm>
            <a:off x="9995197" y="7101572"/>
            <a:ext cx="604826" cy="402567"/>
          </a:xfrm>
          <a:prstGeom prst="rect">
            <a:avLst/>
          </a:prstGeom>
        </p:spPr>
        <p:txBody>
          <a:bodyPr vert="horz" lIns="99569" tIns="49785" rIns="99569" bIns="49785" rtlCol="0" anchor="ctr"/>
          <a:lstStyle>
            <a:defPPr>
              <a:defRPr lang="ko-KR"/>
            </a:defPPr>
            <a:lvl1pPr marL="0" algn="r" defTabSz="914400" rtl="0" eaLnBrk="1" latinLnBrk="1" hangingPunct="1">
              <a:defRPr sz="1000" kern="1200">
                <a:gradFill>
                  <a:gsLst>
                    <a:gs pos="0">
                      <a:schemeClr val="tx1">
                        <a:lumMod val="65000"/>
                        <a:lumOff val="35000"/>
                      </a:schemeClr>
                    </a:gs>
                    <a:gs pos="100000">
                      <a:schemeClr val="tx1">
                        <a:lumMod val="65000"/>
                        <a:lumOff val="35000"/>
                      </a:schemeClr>
                    </a:gs>
                  </a:gsLst>
                  <a:lin ang="5400000" scaled="1"/>
                </a:gradFill>
                <a:latin typeface="-윤고딕320" panose="02030504000101010101" pitchFamily="18" charset="-127"/>
                <a:ea typeface="-윤고딕320" panose="02030504000101010101" pitchFamily="18" charset="-127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6B73D08-2DA7-49BF-9675-7500A88F1E4B}" type="slidenum">
              <a:rPr lang="ko-KR" altLang="en-US" sz="90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pPr/>
              <a:t>‹#›</a:t>
            </a:fld>
            <a:endParaRPr lang="ko-KR" altLang="en-US" sz="9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pic>
        <p:nvPicPr>
          <p:cNvPr id="5" name="그림 4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54695" y="7253256"/>
            <a:ext cx="1008830" cy="112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0170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2E8BB97C-17AB-4344-B825-6E85A7EBF073}"/>
              </a:ext>
            </a:extLst>
          </p:cNvPr>
          <p:cNvSpPr txBox="1">
            <a:spLocks/>
          </p:cNvSpPr>
          <p:nvPr userDrawn="1"/>
        </p:nvSpPr>
        <p:spPr>
          <a:xfrm>
            <a:off x="1451272" y="7095125"/>
            <a:ext cx="604826" cy="402567"/>
          </a:xfrm>
          <a:prstGeom prst="rect">
            <a:avLst/>
          </a:prstGeom>
        </p:spPr>
        <p:txBody>
          <a:bodyPr vert="horz" lIns="99569" tIns="49785" rIns="99569" bIns="49785" rtlCol="0" anchor="ctr"/>
          <a:lstStyle>
            <a:defPPr>
              <a:defRPr lang="ko-KR"/>
            </a:defPPr>
            <a:lvl1pPr marL="0" algn="r" defTabSz="914400" rtl="0" eaLnBrk="1" latinLnBrk="1" hangingPunct="1">
              <a:defRPr sz="1000" kern="1200">
                <a:gradFill>
                  <a:gsLst>
                    <a:gs pos="0">
                      <a:schemeClr val="tx1">
                        <a:lumMod val="65000"/>
                        <a:lumOff val="35000"/>
                      </a:schemeClr>
                    </a:gs>
                    <a:gs pos="100000">
                      <a:schemeClr val="tx1">
                        <a:lumMod val="65000"/>
                        <a:lumOff val="35000"/>
                      </a:schemeClr>
                    </a:gs>
                  </a:gsLst>
                  <a:lin ang="5400000" scaled="1"/>
                </a:gradFill>
                <a:latin typeface="-윤고딕320" panose="02030504000101010101" pitchFamily="18" charset="-127"/>
                <a:ea typeface="-윤고딕320" panose="02030504000101010101" pitchFamily="18" charset="-127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6B73D08-2DA7-49BF-9675-7500A88F1E4B}" type="slidenum">
              <a:rPr lang="ko-KR" altLang="en-US" sz="90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pPr/>
              <a:t>‹#›</a:t>
            </a:fld>
            <a:endParaRPr lang="ko-KR" altLang="en-US" sz="9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pic>
        <p:nvPicPr>
          <p:cNvPr id="5" name="그림 4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0770" y="7246809"/>
            <a:ext cx="1008830" cy="112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92444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2E8BB97C-17AB-4344-B825-6E85A7EBF073}"/>
              </a:ext>
            </a:extLst>
          </p:cNvPr>
          <p:cNvSpPr txBox="1">
            <a:spLocks/>
          </p:cNvSpPr>
          <p:nvPr userDrawn="1"/>
        </p:nvSpPr>
        <p:spPr>
          <a:xfrm>
            <a:off x="1451272" y="7095125"/>
            <a:ext cx="604826" cy="402567"/>
          </a:xfrm>
          <a:prstGeom prst="rect">
            <a:avLst/>
          </a:prstGeom>
        </p:spPr>
        <p:txBody>
          <a:bodyPr vert="horz" lIns="99569" tIns="49785" rIns="99569" bIns="49785" rtlCol="0" anchor="ctr"/>
          <a:lstStyle>
            <a:defPPr>
              <a:defRPr lang="ko-KR"/>
            </a:defPPr>
            <a:lvl1pPr marL="0" algn="r" defTabSz="914400" rtl="0" eaLnBrk="1" latinLnBrk="1" hangingPunct="1">
              <a:defRPr sz="1000" kern="1200">
                <a:gradFill>
                  <a:gsLst>
                    <a:gs pos="0">
                      <a:schemeClr val="tx1">
                        <a:lumMod val="65000"/>
                        <a:lumOff val="35000"/>
                      </a:schemeClr>
                    </a:gs>
                    <a:gs pos="100000">
                      <a:schemeClr val="tx1">
                        <a:lumMod val="65000"/>
                        <a:lumOff val="35000"/>
                      </a:schemeClr>
                    </a:gs>
                  </a:gsLst>
                  <a:lin ang="5400000" scaled="1"/>
                </a:gradFill>
                <a:latin typeface="-윤고딕320" panose="02030504000101010101" pitchFamily="18" charset="-127"/>
                <a:ea typeface="-윤고딕320" panose="02030504000101010101" pitchFamily="18" charset="-127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6B73D08-2DA7-49BF-9675-7500A88F1E4B}" type="slidenum">
              <a:rPr lang="ko-KR" altLang="en-US" sz="90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pPr/>
              <a:t>‹#›</a:t>
            </a:fld>
            <a:endParaRPr lang="ko-KR" altLang="en-US" sz="9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pic>
        <p:nvPicPr>
          <p:cNvPr id="5" name="그림 4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0770" y="7246809"/>
            <a:ext cx="1008830" cy="112092"/>
          </a:xfrm>
          <a:prstGeom prst="rect">
            <a:avLst/>
          </a:prstGeom>
        </p:spPr>
      </p:pic>
      <p:sp>
        <p:nvSpPr>
          <p:cNvPr id="4" name="직사각형 3"/>
          <p:cNvSpPr/>
          <p:nvPr userDrawn="1"/>
        </p:nvSpPr>
        <p:spPr>
          <a:xfrm>
            <a:off x="0" y="984570"/>
            <a:ext cx="10693400" cy="1571886"/>
          </a:xfrm>
          <a:prstGeom prst="rect">
            <a:avLst/>
          </a:prstGeom>
          <a:gradFill>
            <a:gsLst>
              <a:gs pos="4587">
                <a:schemeClr val="tx1">
                  <a:alpha val="15000"/>
                </a:schemeClr>
              </a:gs>
              <a:gs pos="100000">
                <a:schemeClr val="tx1">
                  <a:alpha val="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/>
          <p:cNvSpPr txBox="1"/>
          <p:nvPr userDrawn="1"/>
        </p:nvSpPr>
        <p:spPr>
          <a:xfrm>
            <a:off x="9755465" y="7358901"/>
            <a:ext cx="947695" cy="215444"/>
          </a:xfrm>
          <a:prstGeom prst="rect">
            <a:avLst/>
          </a:prstGeom>
          <a:solidFill>
            <a:srgbClr val="FF0000"/>
          </a:solidFill>
        </p:spPr>
        <p:txBody>
          <a:bodyPr wrap="none" rtlCol="0">
            <a:spAutoFit/>
          </a:bodyPr>
          <a:lstStyle/>
          <a:p>
            <a:r>
              <a:rPr lang="ko-KR" altLang="en-US" sz="800" b="1" dirty="0">
                <a:solidFill>
                  <a:schemeClr val="bg1"/>
                </a:solidFill>
              </a:rPr>
              <a:t>대외비</a:t>
            </a:r>
            <a:r>
              <a:rPr lang="en-US" altLang="ko-KR" sz="800" b="1" dirty="0">
                <a:solidFill>
                  <a:schemeClr val="bg1"/>
                </a:solidFill>
              </a:rPr>
              <a:t>/</a:t>
            </a:r>
            <a:r>
              <a:rPr lang="ko-KR" altLang="en-US" sz="800" b="1" dirty="0">
                <a:solidFill>
                  <a:schemeClr val="bg1"/>
                </a:solidFill>
              </a:rPr>
              <a:t>보안자료</a:t>
            </a:r>
          </a:p>
        </p:txBody>
      </p:sp>
    </p:spTree>
    <p:extLst>
      <p:ext uri="{BB962C8B-B14F-4D97-AF65-F5344CB8AC3E}">
        <p14:creationId xmlns:p14="http://schemas.microsoft.com/office/powerpoint/2010/main" val="1557730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2E8BB97C-17AB-4344-B825-6E85A7EBF073}"/>
              </a:ext>
            </a:extLst>
          </p:cNvPr>
          <p:cNvSpPr txBox="1">
            <a:spLocks/>
          </p:cNvSpPr>
          <p:nvPr userDrawn="1"/>
        </p:nvSpPr>
        <p:spPr>
          <a:xfrm>
            <a:off x="1451272" y="7095125"/>
            <a:ext cx="604826" cy="402567"/>
          </a:xfrm>
          <a:prstGeom prst="rect">
            <a:avLst/>
          </a:prstGeom>
        </p:spPr>
        <p:txBody>
          <a:bodyPr vert="horz" lIns="99569" tIns="49785" rIns="99569" bIns="49785" rtlCol="0" anchor="ctr"/>
          <a:lstStyle>
            <a:defPPr>
              <a:defRPr lang="ko-KR"/>
            </a:defPPr>
            <a:lvl1pPr marL="0" algn="r" defTabSz="914400" rtl="0" eaLnBrk="1" latinLnBrk="1" hangingPunct="1">
              <a:defRPr sz="1000" kern="1200">
                <a:gradFill>
                  <a:gsLst>
                    <a:gs pos="0">
                      <a:schemeClr val="tx1">
                        <a:lumMod val="65000"/>
                        <a:lumOff val="35000"/>
                      </a:schemeClr>
                    </a:gs>
                    <a:gs pos="100000">
                      <a:schemeClr val="tx1">
                        <a:lumMod val="65000"/>
                        <a:lumOff val="35000"/>
                      </a:schemeClr>
                    </a:gs>
                  </a:gsLst>
                  <a:lin ang="5400000" scaled="1"/>
                </a:gradFill>
                <a:latin typeface="-윤고딕320" panose="02030504000101010101" pitchFamily="18" charset="-127"/>
                <a:ea typeface="-윤고딕320" panose="02030504000101010101" pitchFamily="18" charset="-127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6B73D08-2DA7-49BF-9675-7500A88F1E4B}" type="slidenum">
              <a:rPr lang="ko-KR" altLang="en-US" sz="90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pPr/>
              <a:t>‹#›</a:t>
            </a:fld>
            <a:endParaRPr lang="ko-KR" altLang="en-US" sz="9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pic>
        <p:nvPicPr>
          <p:cNvPr id="5" name="그림 4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0770" y="7246809"/>
            <a:ext cx="1008830" cy="112092"/>
          </a:xfrm>
          <a:prstGeom prst="rect">
            <a:avLst/>
          </a:prstGeom>
        </p:spPr>
      </p:pic>
      <p:sp>
        <p:nvSpPr>
          <p:cNvPr id="4" name="직사각형 3"/>
          <p:cNvSpPr/>
          <p:nvPr userDrawn="1"/>
        </p:nvSpPr>
        <p:spPr>
          <a:xfrm>
            <a:off x="0" y="984570"/>
            <a:ext cx="10693400" cy="1571886"/>
          </a:xfrm>
          <a:prstGeom prst="rect">
            <a:avLst/>
          </a:prstGeom>
          <a:gradFill>
            <a:gsLst>
              <a:gs pos="4587">
                <a:schemeClr val="tx1">
                  <a:alpha val="15000"/>
                </a:schemeClr>
              </a:gs>
              <a:gs pos="100000">
                <a:schemeClr val="tx1">
                  <a:alpha val="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703860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657541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슬라이드 번호 개체 틀 5">
            <a:extLst>
              <a:ext uri="{FF2B5EF4-FFF2-40B4-BE49-F238E27FC236}">
                <a16:creationId xmlns:a16="http://schemas.microsoft.com/office/drawing/2014/main" id="{383EBC2F-633C-4B8A-BA2C-9D4DB4B355AE}"/>
              </a:ext>
            </a:extLst>
          </p:cNvPr>
          <p:cNvSpPr txBox="1">
            <a:spLocks/>
          </p:cNvSpPr>
          <p:nvPr userDrawn="1"/>
        </p:nvSpPr>
        <p:spPr>
          <a:xfrm>
            <a:off x="9995197" y="7101572"/>
            <a:ext cx="604826" cy="402567"/>
          </a:xfrm>
          <a:prstGeom prst="rect">
            <a:avLst/>
          </a:prstGeom>
        </p:spPr>
        <p:txBody>
          <a:bodyPr vert="horz" lIns="99569" tIns="49785" rIns="99569" bIns="49785" rtlCol="0" anchor="ctr"/>
          <a:lstStyle>
            <a:defPPr>
              <a:defRPr lang="ko-KR"/>
            </a:defPPr>
            <a:lvl1pPr marL="0" algn="r" defTabSz="914400" rtl="0" eaLnBrk="1" latinLnBrk="1" hangingPunct="1">
              <a:defRPr sz="1000" kern="1200">
                <a:gradFill>
                  <a:gsLst>
                    <a:gs pos="0">
                      <a:schemeClr val="tx1">
                        <a:lumMod val="65000"/>
                        <a:lumOff val="35000"/>
                      </a:schemeClr>
                    </a:gs>
                    <a:gs pos="100000">
                      <a:schemeClr val="tx1">
                        <a:lumMod val="65000"/>
                        <a:lumOff val="35000"/>
                      </a:schemeClr>
                    </a:gs>
                  </a:gsLst>
                  <a:lin ang="5400000" scaled="1"/>
                </a:gradFill>
                <a:latin typeface="-윤고딕320" panose="02030504000101010101" pitchFamily="18" charset="-127"/>
                <a:ea typeface="-윤고딕320" panose="02030504000101010101" pitchFamily="18" charset="-127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6B73D08-2DA7-49BF-9675-7500A88F1E4B}" type="slidenum">
              <a:rPr lang="ko-KR" altLang="en-US" sz="90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pPr/>
              <a:t>‹#›</a:t>
            </a:fld>
            <a:endParaRPr lang="ko-KR" altLang="en-US" sz="9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pic>
        <p:nvPicPr>
          <p:cNvPr id="6" name="그림 5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54695" y="7253256"/>
            <a:ext cx="1008830" cy="112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92614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808804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0" y="1"/>
            <a:ext cx="10693400" cy="75612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그림 2"/>
          <p:cNvPicPr>
            <a:picLocks noChangeAspect="1"/>
          </p:cNvPicPr>
          <p:nvPr userDrawn="1"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54695" y="7253256"/>
            <a:ext cx="1008830" cy="112092"/>
          </a:xfrm>
          <a:prstGeom prst="rect">
            <a:avLst/>
          </a:prstGeom>
        </p:spPr>
      </p:pic>
      <p:sp>
        <p:nvSpPr>
          <p:cNvPr id="4" name="슬라이드 번호 개체 틀 5">
            <a:extLst>
              <a:ext uri="{FF2B5EF4-FFF2-40B4-BE49-F238E27FC236}">
                <a16:creationId xmlns:a16="http://schemas.microsoft.com/office/drawing/2014/main" id="{383EBC2F-633C-4B8A-BA2C-9D4DB4B355AE}"/>
              </a:ext>
            </a:extLst>
          </p:cNvPr>
          <p:cNvSpPr txBox="1">
            <a:spLocks/>
          </p:cNvSpPr>
          <p:nvPr userDrawn="1"/>
        </p:nvSpPr>
        <p:spPr>
          <a:xfrm>
            <a:off x="9995197" y="7101572"/>
            <a:ext cx="604826" cy="402567"/>
          </a:xfrm>
          <a:prstGeom prst="rect">
            <a:avLst/>
          </a:prstGeom>
        </p:spPr>
        <p:txBody>
          <a:bodyPr vert="horz" lIns="99569" tIns="49785" rIns="99569" bIns="49785" rtlCol="0" anchor="ctr"/>
          <a:lstStyle>
            <a:defPPr>
              <a:defRPr lang="ko-KR"/>
            </a:defPPr>
            <a:lvl1pPr marL="0" algn="r" defTabSz="914400" rtl="0" eaLnBrk="1" latinLnBrk="1" hangingPunct="1">
              <a:defRPr sz="1000" kern="1200">
                <a:gradFill>
                  <a:gsLst>
                    <a:gs pos="0">
                      <a:schemeClr val="tx1">
                        <a:lumMod val="65000"/>
                        <a:lumOff val="35000"/>
                      </a:schemeClr>
                    </a:gs>
                    <a:gs pos="100000">
                      <a:schemeClr val="tx1">
                        <a:lumMod val="65000"/>
                        <a:lumOff val="35000"/>
                      </a:schemeClr>
                    </a:gs>
                  </a:gsLst>
                  <a:lin ang="5400000" scaled="1"/>
                </a:gradFill>
                <a:latin typeface="-윤고딕320" panose="02030504000101010101" pitchFamily="18" charset="-127"/>
                <a:ea typeface="-윤고딕320" panose="02030504000101010101" pitchFamily="18" charset="-127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6B73D08-2DA7-49BF-9675-7500A88F1E4B}" type="slidenum">
              <a:rPr lang="ko-KR" altLang="en-US" sz="900" smtClean="0">
                <a:solidFill>
                  <a:schemeClr val="bg1">
                    <a:lumMod val="9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pPr/>
              <a:t>‹#›</a:t>
            </a:fld>
            <a:endParaRPr lang="ko-KR" altLang="en-US" sz="900" dirty="0">
              <a:solidFill>
                <a:schemeClr val="bg1">
                  <a:lumMod val="95000"/>
                </a:schemeClr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8914786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0" y="1"/>
            <a:ext cx="10693400" cy="75612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슬라이드 번호 개체 틀 5">
            <a:extLst>
              <a:ext uri="{FF2B5EF4-FFF2-40B4-BE49-F238E27FC236}">
                <a16:creationId xmlns:a16="http://schemas.microsoft.com/office/drawing/2014/main" id="{2E8BB97C-17AB-4344-B825-6E85A7EBF073}"/>
              </a:ext>
            </a:extLst>
          </p:cNvPr>
          <p:cNvSpPr txBox="1">
            <a:spLocks/>
          </p:cNvSpPr>
          <p:nvPr userDrawn="1"/>
        </p:nvSpPr>
        <p:spPr>
          <a:xfrm>
            <a:off x="1451272" y="7095125"/>
            <a:ext cx="604826" cy="402567"/>
          </a:xfrm>
          <a:prstGeom prst="rect">
            <a:avLst/>
          </a:prstGeom>
        </p:spPr>
        <p:txBody>
          <a:bodyPr vert="horz" lIns="99569" tIns="49785" rIns="99569" bIns="49785" rtlCol="0" anchor="ctr"/>
          <a:lstStyle>
            <a:defPPr>
              <a:defRPr lang="ko-KR"/>
            </a:defPPr>
            <a:lvl1pPr marL="0" algn="r" defTabSz="914400" rtl="0" eaLnBrk="1" latinLnBrk="1" hangingPunct="1">
              <a:defRPr sz="1000" kern="1200">
                <a:gradFill>
                  <a:gsLst>
                    <a:gs pos="0">
                      <a:schemeClr val="tx1">
                        <a:lumMod val="65000"/>
                        <a:lumOff val="35000"/>
                      </a:schemeClr>
                    </a:gs>
                    <a:gs pos="100000">
                      <a:schemeClr val="tx1">
                        <a:lumMod val="65000"/>
                        <a:lumOff val="35000"/>
                      </a:schemeClr>
                    </a:gs>
                  </a:gsLst>
                  <a:lin ang="5400000" scaled="1"/>
                </a:gradFill>
                <a:latin typeface="-윤고딕320" panose="02030504000101010101" pitchFamily="18" charset="-127"/>
                <a:ea typeface="-윤고딕320" panose="02030504000101010101" pitchFamily="18" charset="-127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6B73D08-2DA7-49BF-9675-7500A88F1E4B}" type="slidenum">
              <a:rPr lang="ko-KR" altLang="en-US" sz="900" smtClean="0">
                <a:solidFill>
                  <a:schemeClr val="bg1">
                    <a:lumMod val="9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pPr/>
              <a:t>‹#›</a:t>
            </a:fld>
            <a:endParaRPr lang="ko-KR" altLang="en-US" sz="900" dirty="0">
              <a:solidFill>
                <a:schemeClr val="bg1">
                  <a:lumMod val="95000"/>
                </a:schemeClr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pic>
        <p:nvPicPr>
          <p:cNvPr id="6" name="그림 5"/>
          <p:cNvPicPr>
            <a:picLocks noChangeAspect="1"/>
          </p:cNvPicPr>
          <p:nvPr userDrawn="1"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0770" y="7246809"/>
            <a:ext cx="1008830" cy="112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8747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1" name="Picture 3"/>
          <p:cNvPicPr>
            <a:picLocks noChangeAspect="1" noChangeArrowheads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0" y="-1"/>
            <a:ext cx="10693400" cy="75612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슬라이드 번호 개체 틀 5">
            <a:extLst>
              <a:ext uri="{FF2B5EF4-FFF2-40B4-BE49-F238E27FC236}">
                <a16:creationId xmlns:a16="http://schemas.microsoft.com/office/drawing/2014/main" id="{2E8BB97C-17AB-4344-B825-6E85A7EBF073}"/>
              </a:ext>
            </a:extLst>
          </p:cNvPr>
          <p:cNvSpPr txBox="1">
            <a:spLocks/>
          </p:cNvSpPr>
          <p:nvPr userDrawn="1"/>
        </p:nvSpPr>
        <p:spPr>
          <a:xfrm>
            <a:off x="1451272" y="7095125"/>
            <a:ext cx="604826" cy="402567"/>
          </a:xfrm>
          <a:prstGeom prst="rect">
            <a:avLst/>
          </a:prstGeom>
        </p:spPr>
        <p:txBody>
          <a:bodyPr vert="horz" lIns="99569" tIns="49785" rIns="99569" bIns="49785" rtlCol="0" anchor="ctr"/>
          <a:lstStyle>
            <a:defPPr>
              <a:defRPr lang="ko-KR"/>
            </a:defPPr>
            <a:lvl1pPr marL="0" algn="r" defTabSz="914400" rtl="0" eaLnBrk="1" latinLnBrk="1" hangingPunct="1">
              <a:defRPr sz="1000" kern="1200">
                <a:gradFill>
                  <a:gsLst>
                    <a:gs pos="0">
                      <a:schemeClr val="tx1">
                        <a:lumMod val="65000"/>
                        <a:lumOff val="35000"/>
                      </a:schemeClr>
                    </a:gs>
                    <a:gs pos="100000">
                      <a:schemeClr val="tx1">
                        <a:lumMod val="65000"/>
                        <a:lumOff val="35000"/>
                      </a:schemeClr>
                    </a:gs>
                  </a:gsLst>
                  <a:lin ang="5400000" scaled="1"/>
                </a:gradFill>
                <a:latin typeface="-윤고딕320" panose="02030504000101010101" pitchFamily="18" charset="-127"/>
                <a:ea typeface="-윤고딕320" panose="02030504000101010101" pitchFamily="18" charset="-127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6B73D08-2DA7-49BF-9675-7500A88F1E4B}" type="slidenum">
              <a:rPr lang="ko-KR" altLang="en-US" sz="900" smtClean="0">
                <a:solidFill>
                  <a:schemeClr val="bg1">
                    <a:lumMod val="9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pPr/>
              <a:t>‹#›</a:t>
            </a:fld>
            <a:endParaRPr lang="ko-KR" altLang="en-US" sz="900" dirty="0">
              <a:solidFill>
                <a:schemeClr val="bg1">
                  <a:lumMod val="95000"/>
                </a:schemeClr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pic>
        <p:nvPicPr>
          <p:cNvPr id="6" name="그림 5"/>
          <p:cNvPicPr>
            <a:picLocks noChangeAspect="1"/>
          </p:cNvPicPr>
          <p:nvPr userDrawn="1"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0770" y="7246809"/>
            <a:ext cx="1008830" cy="112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682236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0" y="1"/>
            <a:ext cx="10693400" cy="75612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6943777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 noChangeArrowheads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0" y="1"/>
            <a:ext cx="10693400" cy="75612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그림 2"/>
          <p:cNvPicPr>
            <a:picLocks noChangeAspect="1"/>
          </p:cNvPicPr>
          <p:nvPr userDrawn="1"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-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434" y="7289537"/>
            <a:ext cx="1124881" cy="124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765740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66DB1E50-5DF5-4247-B770-CF9F692DA1DA}"/>
              </a:ext>
            </a:extLst>
          </p:cNvPr>
          <p:cNvSpPr/>
          <p:nvPr userDrawn="1"/>
        </p:nvSpPr>
        <p:spPr>
          <a:xfrm>
            <a:off x="0" y="0"/>
            <a:ext cx="10693400" cy="7561263"/>
          </a:xfrm>
          <a:prstGeom prst="rect">
            <a:avLst/>
          </a:prstGeom>
          <a:solidFill>
            <a:srgbClr val="EBEC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9569" tIns="49785" rIns="99569" bIns="49785"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7393531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66DB1E50-5DF5-4247-B770-CF9F692DA1DA}"/>
              </a:ext>
            </a:extLst>
          </p:cNvPr>
          <p:cNvSpPr/>
          <p:nvPr userDrawn="1"/>
        </p:nvSpPr>
        <p:spPr>
          <a:xfrm>
            <a:off x="0" y="0"/>
            <a:ext cx="10693400" cy="7561263"/>
          </a:xfrm>
          <a:prstGeom prst="rect">
            <a:avLst/>
          </a:prstGeom>
          <a:solidFill>
            <a:srgbClr val="EBEC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9569" tIns="49785" rIns="99569" bIns="49785" rtlCol="0" anchor="ctr"/>
          <a:lstStyle/>
          <a:p>
            <a:pPr algn="ctr"/>
            <a:endParaRPr lang="ko-KR" altLang="en-US"/>
          </a:p>
        </p:txBody>
      </p:sp>
      <p:pic>
        <p:nvPicPr>
          <p:cNvPr id="3" name="그림 2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434" y="7289537"/>
            <a:ext cx="1124881" cy="124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4774037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66DB1E50-5DF5-4247-B770-CF9F692DA1DA}"/>
              </a:ext>
            </a:extLst>
          </p:cNvPr>
          <p:cNvSpPr/>
          <p:nvPr userDrawn="1"/>
        </p:nvSpPr>
        <p:spPr>
          <a:xfrm>
            <a:off x="0" y="0"/>
            <a:ext cx="10693400" cy="7561263"/>
          </a:xfrm>
          <a:prstGeom prst="rect">
            <a:avLst/>
          </a:prstGeom>
          <a:solidFill>
            <a:srgbClr val="EBEC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9569" tIns="49785" rIns="99569" bIns="49785" rtlCol="0" anchor="ctr"/>
          <a:lstStyle/>
          <a:p>
            <a:pPr algn="ctr"/>
            <a:endParaRPr lang="ko-KR" altLang="en-US"/>
          </a:p>
        </p:txBody>
      </p:sp>
      <p:pic>
        <p:nvPicPr>
          <p:cNvPr id="3" name="그림 2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54695" y="7253256"/>
            <a:ext cx="1008830" cy="112092"/>
          </a:xfrm>
          <a:prstGeom prst="rect">
            <a:avLst/>
          </a:prstGeom>
        </p:spPr>
      </p:pic>
      <p:sp>
        <p:nvSpPr>
          <p:cNvPr id="4" name="슬라이드 번호 개체 틀 5">
            <a:extLst>
              <a:ext uri="{FF2B5EF4-FFF2-40B4-BE49-F238E27FC236}">
                <a16:creationId xmlns:a16="http://schemas.microsoft.com/office/drawing/2014/main" id="{383EBC2F-633C-4B8A-BA2C-9D4DB4B355AE}"/>
              </a:ext>
            </a:extLst>
          </p:cNvPr>
          <p:cNvSpPr txBox="1">
            <a:spLocks/>
          </p:cNvSpPr>
          <p:nvPr userDrawn="1"/>
        </p:nvSpPr>
        <p:spPr>
          <a:xfrm>
            <a:off x="9995197" y="7101572"/>
            <a:ext cx="604826" cy="402567"/>
          </a:xfrm>
          <a:prstGeom prst="rect">
            <a:avLst/>
          </a:prstGeom>
        </p:spPr>
        <p:txBody>
          <a:bodyPr vert="horz" lIns="99569" tIns="49785" rIns="99569" bIns="49785" rtlCol="0" anchor="ctr"/>
          <a:lstStyle>
            <a:defPPr>
              <a:defRPr lang="ko-KR"/>
            </a:defPPr>
            <a:lvl1pPr marL="0" algn="r" defTabSz="914400" rtl="0" eaLnBrk="1" latinLnBrk="1" hangingPunct="1">
              <a:defRPr sz="1000" kern="1200">
                <a:gradFill>
                  <a:gsLst>
                    <a:gs pos="0">
                      <a:schemeClr val="tx1">
                        <a:lumMod val="65000"/>
                        <a:lumOff val="35000"/>
                      </a:schemeClr>
                    </a:gs>
                    <a:gs pos="100000">
                      <a:schemeClr val="tx1">
                        <a:lumMod val="65000"/>
                        <a:lumOff val="35000"/>
                      </a:schemeClr>
                    </a:gs>
                  </a:gsLst>
                  <a:lin ang="5400000" scaled="1"/>
                </a:gradFill>
                <a:latin typeface="-윤고딕320" panose="02030504000101010101" pitchFamily="18" charset="-127"/>
                <a:ea typeface="-윤고딕320" panose="02030504000101010101" pitchFamily="18" charset="-127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6B73D08-2DA7-49BF-9675-7500A88F1E4B}" type="slidenum">
              <a:rPr lang="ko-KR" altLang="en-US" sz="900" smtClean="0">
                <a:solidFill>
                  <a:schemeClr val="tx1">
                    <a:lumMod val="65000"/>
                    <a:lumOff val="35000"/>
                  </a:schemeClr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pPr/>
              <a:t>‹#›</a:t>
            </a:fld>
            <a:endParaRPr lang="ko-KR" altLang="en-US" sz="900" dirty="0">
              <a:solidFill>
                <a:schemeClr val="tx1">
                  <a:lumMod val="65000"/>
                  <a:lumOff val="35000"/>
                </a:schemeClr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27577885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>
            <a:extLst>
              <a:ext uri="{FF2B5EF4-FFF2-40B4-BE49-F238E27FC236}">
                <a16:creationId xmlns:a16="http://schemas.microsoft.com/office/drawing/2014/main" id="{66DB1E50-5DF5-4247-B770-CF9F692DA1DA}"/>
              </a:ext>
            </a:extLst>
          </p:cNvPr>
          <p:cNvSpPr/>
          <p:nvPr userDrawn="1"/>
        </p:nvSpPr>
        <p:spPr>
          <a:xfrm>
            <a:off x="0" y="0"/>
            <a:ext cx="10693400" cy="7561263"/>
          </a:xfrm>
          <a:prstGeom prst="rect">
            <a:avLst/>
          </a:prstGeom>
          <a:solidFill>
            <a:srgbClr val="EBEC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9569" tIns="49785" rIns="99569" bIns="49785" rtlCol="0" anchor="ctr"/>
          <a:lstStyle/>
          <a:p>
            <a:pPr algn="ctr"/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E8BB97C-17AB-4344-B825-6E85A7EBF073}"/>
              </a:ext>
            </a:extLst>
          </p:cNvPr>
          <p:cNvSpPr txBox="1">
            <a:spLocks/>
          </p:cNvSpPr>
          <p:nvPr userDrawn="1"/>
        </p:nvSpPr>
        <p:spPr>
          <a:xfrm>
            <a:off x="1451272" y="7095125"/>
            <a:ext cx="604826" cy="402567"/>
          </a:xfrm>
          <a:prstGeom prst="rect">
            <a:avLst/>
          </a:prstGeom>
        </p:spPr>
        <p:txBody>
          <a:bodyPr vert="horz" lIns="99569" tIns="49785" rIns="99569" bIns="49785" rtlCol="0" anchor="ctr"/>
          <a:lstStyle>
            <a:defPPr>
              <a:defRPr lang="ko-KR"/>
            </a:defPPr>
            <a:lvl1pPr marL="0" algn="r" defTabSz="914400" rtl="0" eaLnBrk="1" latinLnBrk="1" hangingPunct="1">
              <a:defRPr sz="1000" kern="1200">
                <a:gradFill>
                  <a:gsLst>
                    <a:gs pos="0">
                      <a:schemeClr val="tx1">
                        <a:lumMod val="65000"/>
                        <a:lumOff val="35000"/>
                      </a:schemeClr>
                    </a:gs>
                    <a:gs pos="100000">
                      <a:schemeClr val="tx1">
                        <a:lumMod val="65000"/>
                        <a:lumOff val="35000"/>
                      </a:schemeClr>
                    </a:gs>
                  </a:gsLst>
                  <a:lin ang="5400000" scaled="1"/>
                </a:gradFill>
                <a:latin typeface="-윤고딕320" panose="02030504000101010101" pitchFamily="18" charset="-127"/>
                <a:ea typeface="-윤고딕320" panose="02030504000101010101" pitchFamily="18" charset="-127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66B73D08-2DA7-49BF-9675-7500A88F1E4B}" type="slidenum">
              <a:rPr lang="ko-KR" altLang="en-US" sz="900" smtClean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pPr/>
              <a:t>‹#›</a:t>
            </a:fld>
            <a:endParaRPr lang="ko-KR" altLang="en-US" sz="9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pic>
        <p:nvPicPr>
          <p:cNvPr id="7" name="그림 6"/>
          <p:cNvPicPr>
            <a:picLocks noChangeAspect="1"/>
          </p:cNvPicPr>
          <p:nvPr userDrawn="1"/>
        </p:nvPicPr>
        <p:blipFill>
          <a:blip r:embed="rId2" cstate="print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0770" y="7246809"/>
            <a:ext cx="1008830" cy="112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185824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35172" y="402570"/>
            <a:ext cx="9223058" cy="1461495"/>
          </a:xfrm>
          <a:prstGeom prst="rect">
            <a:avLst/>
          </a:prstGeom>
        </p:spPr>
        <p:txBody>
          <a:bodyPr vert="horz" lIns="99569" tIns="49785" rIns="99569" bIns="49785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5172" y="2012836"/>
            <a:ext cx="9223058" cy="4797552"/>
          </a:xfrm>
          <a:prstGeom prst="rect">
            <a:avLst/>
          </a:prstGeom>
        </p:spPr>
        <p:txBody>
          <a:bodyPr vert="horz" lIns="99569" tIns="49785" rIns="99569" bIns="49785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35172" y="7008173"/>
            <a:ext cx="2406015" cy="402567"/>
          </a:xfrm>
          <a:prstGeom prst="rect">
            <a:avLst/>
          </a:prstGeom>
        </p:spPr>
        <p:txBody>
          <a:bodyPr vert="horz" lIns="99569" tIns="49785" rIns="99569" bIns="49785" rtlCol="0" anchor="ctr"/>
          <a:lstStyle>
            <a:lvl1pPr algn="l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76891F-E99F-4224-B1AE-86908FE340C9}" type="datetimeFigureOut">
              <a:rPr lang="ko-KR" altLang="en-US" smtClean="0"/>
              <a:t>2026-03-16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542190" y="7008173"/>
            <a:ext cx="3609023" cy="402567"/>
          </a:xfrm>
          <a:prstGeom prst="rect">
            <a:avLst/>
          </a:prstGeom>
        </p:spPr>
        <p:txBody>
          <a:bodyPr vert="horz" lIns="99569" tIns="49785" rIns="99569" bIns="49785" rtlCol="0" anchor="ctr"/>
          <a:lstStyle>
            <a:lvl1pPr algn="ctr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52214" y="7008173"/>
            <a:ext cx="2406015" cy="402567"/>
          </a:xfrm>
          <a:prstGeom prst="rect">
            <a:avLst/>
          </a:prstGeom>
        </p:spPr>
        <p:txBody>
          <a:bodyPr vert="horz" lIns="99569" tIns="49785" rIns="99569" bIns="49785" rtlCol="0" anchor="ctr"/>
          <a:lstStyle>
            <a:lvl1pPr algn="r">
              <a:defRPr sz="13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B1C291-FBB5-4C5B-BB53-94C6AA93C80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21145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93" r:id="rId2"/>
    <p:sldLayoutId id="2147483662" r:id="rId3"/>
    <p:sldLayoutId id="2147483694" r:id="rId4"/>
    <p:sldLayoutId id="2147483698" r:id="rId5"/>
    <p:sldLayoutId id="2147483699" r:id="rId6"/>
    <p:sldLayoutId id="2147483667" r:id="rId7"/>
    <p:sldLayoutId id="2147483684" r:id="rId8"/>
    <p:sldLayoutId id="2147483685" r:id="rId9"/>
    <p:sldLayoutId id="2147483686" r:id="rId10"/>
    <p:sldLayoutId id="2147483695" r:id="rId11"/>
    <p:sldLayoutId id="2147483697" r:id="rId12"/>
    <p:sldLayoutId id="2147483688" r:id="rId13"/>
    <p:sldLayoutId id="2147483692" r:id="rId14"/>
    <p:sldLayoutId id="2147483687" r:id="rId15"/>
    <p:sldLayoutId id="2147483690" r:id="rId16"/>
    <p:sldLayoutId id="2147483689" r:id="rId17"/>
    <p:sldLayoutId id="2147483696" r:id="rId18"/>
  </p:sldLayoutIdLst>
  <p:txStyles>
    <p:titleStyle>
      <a:lvl1pPr algn="l" defTabSz="995690" rtl="0" eaLnBrk="1" latinLnBrk="1" hangingPunct="1">
        <a:lnSpc>
          <a:spcPct val="90000"/>
        </a:lnSpc>
        <a:spcBef>
          <a:spcPct val="0"/>
        </a:spcBef>
        <a:buNone/>
        <a:defRPr sz="4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8923" indent="-248923" algn="l" defTabSz="995690" rtl="0" eaLnBrk="1" latinLnBrk="1" hangingPunct="1">
        <a:lnSpc>
          <a:spcPct val="90000"/>
        </a:lnSpc>
        <a:spcBef>
          <a:spcPts val="1089"/>
        </a:spcBef>
        <a:buFont typeface="Arial" panose="020B0604020202020204" pitchFamily="34" charset="0"/>
        <a:buChar char="•"/>
        <a:defRPr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746768" indent="-248923" algn="l" defTabSz="995690" rtl="0" eaLnBrk="1" latinLnBrk="1" hangingPunct="1">
        <a:lnSpc>
          <a:spcPct val="90000"/>
        </a:lnSpc>
        <a:spcBef>
          <a:spcPts val="544"/>
        </a:spcBef>
        <a:buFont typeface="Arial" panose="020B060402020202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244613" indent="-248923" algn="l" defTabSz="995690" rtl="0" eaLnBrk="1" latinLnBrk="1" hangingPunct="1">
        <a:lnSpc>
          <a:spcPct val="90000"/>
        </a:lnSpc>
        <a:spcBef>
          <a:spcPts val="544"/>
        </a:spcBef>
        <a:buFont typeface="Arial" panose="020B0604020202020204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3pPr>
      <a:lvl4pPr marL="1742458" indent="-248923" algn="l" defTabSz="995690" rtl="0" eaLnBrk="1" latinLnBrk="1" hangingPunct="1">
        <a:lnSpc>
          <a:spcPct val="90000"/>
        </a:lnSpc>
        <a:spcBef>
          <a:spcPts val="544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240303" indent="-248923" algn="l" defTabSz="995690" rtl="0" eaLnBrk="1" latinLnBrk="1" hangingPunct="1">
        <a:lnSpc>
          <a:spcPct val="90000"/>
        </a:lnSpc>
        <a:spcBef>
          <a:spcPts val="544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738148" indent="-248923" algn="l" defTabSz="995690" rtl="0" eaLnBrk="1" latinLnBrk="1" hangingPunct="1">
        <a:lnSpc>
          <a:spcPct val="90000"/>
        </a:lnSpc>
        <a:spcBef>
          <a:spcPts val="544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235993" indent="-248923" algn="l" defTabSz="995690" rtl="0" eaLnBrk="1" latinLnBrk="1" hangingPunct="1">
        <a:lnSpc>
          <a:spcPct val="90000"/>
        </a:lnSpc>
        <a:spcBef>
          <a:spcPts val="544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733838" indent="-248923" algn="l" defTabSz="995690" rtl="0" eaLnBrk="1" latinLnBrk="1" hangingPunct="1">
        <a:lnSpc>
          <a:spcPct val="90000"/>
        </a:lnSpc>
        <a:spcBef>
          <a:spcPts val="544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4231683" indent="-248923" algn="l" defTabSz="995690" rtl="0" eaLnBrk="1" latinLnBrk="1" hangingPunct="1">
        <a:lnSpc>
          <a:spcPct val="90000"/>
        </a:lnSpc>
        <a:spcBef>
          <a:spcPts val="544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95690" rtl="0" eaLnBrk="1" latinLnBrk="1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7845" algn="l" defTabSz="995690" rtl="0" eaLnBrk="1" latinLnBrk="1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995690" algn="l" defTabSz="995690" rtl="0" eaLnBrk="1" latinLnBrk="1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493535" algn="l" defTabSz="995690" rtl="0" eaLnBrk="1" latinLnBrk="1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991380" algn="l" defTabSz="995690" rtl="0" eaLnBrk="1" latinLnBrk="1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489225" algn="l" defTabSz="995690" rtl="0" eaLnBrk="1" latinLnBrk="1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87070" algn="l" defTabSz="995690" rtl="0" eaLnBrk="1" latinLnBrk="1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84916" algn="l" defTabSz="995690" rtl="0" eaLnBrk="1" latinLnBrk="1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982761" algn="l" defTabSz="995690" rtl="0" eaLnBrk="1" latinLnBrk="1" hangingPunct="1"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38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480000" y="0"/>
            <a:ext cx="3600000" cy="1080000"/>
          </a:xfrm>
          <a:prstGeom prst="rect">
            <a:avLst/>
          </a:prstGeom>
          <a:solidFill>
            <a:srgbClr val="0A4F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80000" y="1260000"/>
            <a:ext cx="360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94A3B8"/>
                </a:solidFill>
                <a:latin typeface="Malgun Gothic"/>
              </a:defRPr>
              <a:lnSpc>
                <a:spcPct val="120000"/>
              </a:lnSpc>
            </a:pPr>
            <a:r>
              <a:t>기술제안서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80000" y="1620000"/>
            <a:ext cx="5040000" cy="324000"/>
          </a:xfrm>
          <a:prstGeom prst="roundRect">
            <a:avLst/>
          </a:prstGeom>
          <a:solidFill>
            <a:srgbClr val="0A4F7A"/>
          </a:solidFill>
          <a:ln w="12700">
            <a:solidFill>
              <a:srgbClr val="1A6F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0">
                <a:solidFill>
                  <a:srgbClr val="FFFFFF"/>
                </a:solidFill>
                <a:latin typeface="Malgun Gothic"/>
              </a:defRPr>
            </a:pPr>
            <a:r>
              <a:t>ICAO Doc 9303  |  RFC 5280 X.509  |  BSI TR-03110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0000" y="2160000"/>
            <a:ext cx="7920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FFFFF"/>
                </a:solidFill>
                <a:latin typeface="Malgun Gothic"/>
              </a:defRPr>
              <a:lnSpc>
                <a:spcPct val="130000"/>
              </a:lnSpc>
            </a:pPr>
            <a:r>
              <a:t>전자여권 위·변조 검사 시스템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0000" y="3060000"/>
            <a:ext cx="792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94A3B8"/>
                </a:solidFill>
                <a:latin typeface="Malgun Gothic"/>
              </a:defRPr>
              <a:lnSpc>
                <a:spcPct val="150000"/>
              </a:lnSpc>
            </a:pPr>
            <a:r>
              <a:t>ICAO Local PKD 구성·관리 및 Passive Authentication 검증 통합 솔루션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80000" y="3780000"/>
            <a:ext cx="72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400" b="1">
                <a:solidFill>
                  <a:srgbClr val="60A5FA"/>
                </a:solidFill>
                <a:latin typeface="Malgun Gothic"/>
              </a:defRPr>
              <a:lnSpc>
                <a:spcPct val="120000"/>
              </a:lnSpc>
            </a:pPr>
            <a:r>
              <a:t>FASTpass® SPKD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0000" y="5400000"/>
            <a:ext cx="252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94A3B8"/>
                </a:solidFill>
                <a:latin typeface="Malgun Gothic"/>
              </a:defRPr>
              <a:lnSpc>
                <a:spcPct val="160000"/>
              </a:lnSpc>
            </a:pPr>
            <a:r>
              <a:t>발주처: 법무부 출입국·외국인정책본부</a:t>
            </a:r>
            <a:br/>
            <a:r>
              <a:t>제안사: (주)스마트코어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80000" y="6120000"/>
            <a:ext cx="36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94A3B8"/>
                </a:solidFill>
                <a:latin typeface="Malgun Gothic"/>
              </a:defRPr>
              <a:lnSpc>
                <a:spcPct val="120000"/>
              </a:lnSpc>
            </a:pPr>
            <a:r>
              <a:t>2026년 3월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0000" y="6120000"/>
            <a:ext cx="288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64748B"/>
                </a:solidFill>
                <a:latin typeface="Malgun Gothic"/>
              </a:defRPr>
              <a:lnSpc>
                <a:spcPct val="120000"/>
              </a:lnSpc>
            </a:pPr>
            <a:r>
              <a:t>© 2026 SMARTCORE Inc.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93400" cy="54000"/>
          </a:xfrm>
          <a:prstGeom prst="rect">
            <a:avLst/>
          </a:prstGeom>
          <a:solidFill>
            <a:srgbClr val="0238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0000" y="540000"/>
            <a:ext cx="864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F172A"/>
                </a:solidFill>
                <a:latin typeface="Malgun Gothic"/>
              </a:defRPr>
              <a:lnSpc>
                <a:spcPct val="120000"/>
              </a:lnSpc>
            </a:pPr>
            <a:r>
              <a:t>목차</a:t>
            </a:r>
          </a:p>
        </p:txBody>
      </p:sp>
      <p:sp>
        <p:nvSpPr>
          <p:cNvPr id="4" name="Rectangle 3"/>
          <p:cNvSpPr/>
          <p:nvPr/>
        </p:nvSpPr>
        <p:spPr>
          <a:xfrm>
            <a:off x="540000" y="972000"/>
            <a:ext cx="1440000" cy="28800"/>
          </a:xfrm>
          <a:prstGeom prst="rect">
            <a:avLst/>
          </a:prstGeom>
          <a:solidFill>
            <a:srgbClr val="0238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7273263"/>
            <a:ext cx="10693400" cy="28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0000" y="7309264"/>
            <a:ext cx="36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64748B"/>
                </a:solidFill>
                <a:latin typeface="Malgun Gothic"/>
              </a:defRPr>
              <a:lnSpc>
                <a:spcPct val="120000"/>
              </a:lnSpc>
            </a:pPr>
            <a:r>
              <a:t>FASTpass® SPKD — 전자여권 위·변조 검사 시스템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00000" y="7309264"/>
            <a:ext cx="216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64748B"/>
                </a:solidFill>
                <a:latin typeface="Malgun Gothic"/>
              </a:defRPr>
              <a:lnSpc>
                <a:spcPct val="120000"/>
              </a:lnSpc>
            </a:pPr>
            <a:r>
              <a:t>© 2026 SMARTCORE Inc.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0000" y="1512000"/>
            <a:ext cx="7920000" cy="1260000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20000" y="1512000"/>
            <a:ext cx="43200" cy="1260000"/>
          </a:xfrm>
          <a:prstGeom prst="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7999" y="1620000"/>
            <a:ext cx="144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E11D48"/>
                </a:solidFill>
                <a:latin typeface="Malgun Gothic"/>
              </a:defRPr>
              <a:lnSpc>
                <a:spcPct val="120000"/>
              </a:lnSpc>
            </a:pPr>
            <a:r>
              <a:t>Part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7999" y="1836000"/>
            <a:ext cx="36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F172A"/>
                </a:solidFill>
                <a:latin typeface="Malgun Gothic"/>
              </a:defRPr>
              <a:lnSpc>
                <a:spcPct val="120000"/>
              </a:lnSpc>
            </a:pPr>
            <a:r>
              <a:t>사업 이해 및 현황 분석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7999" y="2124000"/>
            <a:ext cx="720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4748B"/>
                </a:solidFill>
                <a:latin typeface="Malgun Gothic"/>
              </a:defRPr>
              <a:lnSpc>
                <a:spcPct val="150000"/>
              </a:lnSpc>
            </a:pPr>
            <a:r>
              <a:t>• 제안 배경 및 목적</a:t>
            </a:r>
            <a:br/>
            <a:r>
              <a:t>• 현행 시스템 현황과 문제점</a:t>
            </a:r>
            <a:br/>
            <a:r>
              <a:t>• 전자여권 보안 위협 분석</a:t>
            </a:r>
            <a:br/>
            <a:r>
              <a:t>• PA 검증 필요성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20000" y="2951999"/>
            <a:ext cx="7920000" cy="1260000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20000" y="2951999"/>
            <a:ext cx="43200" cy="1260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07999" y="3059999"/>
            <a:ext cx="144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563EB"/>
                </a:solidFill>
                <a:latin typeface="Malgun Gothic"/>
              </a:defRPr>
              <a:lnSpc>
                <a:spcPct val="120000"/>
              </a:lnSpc>
            </a:pPr>
            <a:r>
              <a:t>Part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07999" y="3275999"/>
            <a:ext cx="36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F172A"/>
                </a:solidFill>
                <a:latin typeface="Malgun Gothic"/>
              </a:defRPr>
              <a:lnSpc>
                <a:spcPct val="120000"/>
              </a:lnSpc>
            </a:pPr>
            <a:r>
              <a:t>기술 방안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7999" y="3563999"/>
            <a:ext cx="720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4748B"/>
                </a:solidFill>
                <a:latin typeface="Malgun Gothic"/>
              </a:defRPr>
              <a:lnSpc>
                <a:spcPct val="150000"/>
              </a:lnSpc>
            </a:pPr>
            <a:r>
              <a:t>• 시스템 아키텍처</a:t>
            </a:r>
            <a:br/>
            <a:r>
              <a:t>• 핵심 기능 8가지</a:t>
            </a:r>
            <a:br/>
            <a:r>
              <a:t>• PA 검증 프로세스</a:t>
            </a:r>
            <a:br/>
            <a:r>
              <a:t>• 성능 벤치마크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20000" y="4392000"/>
            <a:ext cx="7920000" cy="1260000"/>
          </a:xfrm>
          <a:prstGeom prst="roundRect">
            <a:avLst/>
          </a:prstGeom>
          <a:solidFill>
            <a:srgbClr val="F0FDF4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20000" y="4392000"/>
            <a:ext cx="43200" cy="12600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7999" y="4500000"/>
            <a:ext cx="144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59669"/>
                </a:solidFill>
                <a:latin typeface="Malgun Gothic"/>
              </a:defRPr>
              <a:lnSpc>
                <a:spcPct val="120000"/>
              </a:lnSpc>
            </a:pPr>
            <a:r>
              <a:t>Part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7999" y="4716000"/>
            <a:ext cx="36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F172A"/>
                </a:solidFill>
                <a:latin typeface="Malgun Gothic"/>
              </a:defRPr>
              <a:lnSpc>
                <a:spcPct val="120000"/>
              </a:lnSpc>
            </a:pPr>
            <a:r>
              <a:t>보안 및 프로젝트 관리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7999" y="5004000"/>
            <a:ext cx="7200000" cy="64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4748B"/>
                </a:solidFill>
                <a:latin typeface="Malgun Gothic"/>
              </a:defRPr>
              <a:lnSpc>
                <a:spcPct val="150000"/>
              </a:lnSpc>
            </a:pPr>
            <a:r>
              <a:t>• 보안 대책 및 법적 준수</a:t>
            </a:r>
            <a:br/>
            <a:r>
              <a:t>• 추진 체계 및 일정</a:t>
            </a:r>
            <a:br/>
            <a:r>
              <a:t>• 유지보수 및 기대효과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11D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80000" y="2160000"/>
            <a:ext cx="72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94A3B8"/>
                </a:solidFill>
                <a:latin typeface="Malgun Gothic"/>
              </a:defRPr>
              <a:lnSpc>
                <a:spcPct val="120000"/>
              </a:lnSpc>
            </a:pPr>
            <a:r>
              <a:t>Part 1</a:t>
            </a:r>
          </a:p>
        </p:txBody>
      </p:sp>
      <p:sp>
        <p:nvSpPr>
          <p:cNvPr id="3" name="Rectangle 2"/>
          <p:cNvSpPr/>
          <p:nvPr/>
        </p:nvSpPr>
        <p:spPr>
          <a:xfrm>
            <a:off x="1080000" y="2592000"/>
            <a:ext cx="2160000" cy="288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80000" y="2700000"/>
            <a:ext cx="72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FFFFF"/>
                </a:solidFill>
                <a:latin typeface="Malgun Gothic"/>
              </a:defRPr>
              <a:lnSpc>
                <a:spcPct val="120000"/>
              </a:lnSpc>
            </a:pPr>
            <a:r>
              <a:t>사업 이해 및 현황 분석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0000" y="3600000"/>
            <a:ext cx="79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4748B"/>
                </a:solidFill>
                <a:latin typeface="Malgun Gothic"/>
              </a:defRPr>
              <a:lnSpc>
                <a:spcPct val="120000"/>
              </a:lnSpc>
            </a:pPr>
            <a:r>
              <a:t>전자여권 보안 환경 변화와 PA 검증 도입의 시급성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93400" cy="54000"/>
          </a:xfrm>
          <a:prstGeom prst="rect">
            <a:avLst/>
          </a:prstGeom>
          <a:solidFill>
            <a:srgbClr val="0238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0000" y="432000"/>
            <a:ext cx="1980000" cy="251999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  <a:latin typeface="Malgun Gothic"/>
              </a:defRPr>
            </a:pPr>
            <a:r>
              <a:t>Part 1 — 사업 이해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756000"/>
            <a:ext cx="864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F172A"/>
                </a:solidFill>
                <a:latin typeface="Malgun Gothic"/>
              </a:defRPr>
              <a:lnSpc>
                <a:spcPct val="120000"/>
              </a:lnSpc>
            </a:pPr>
            <a:r>
              <a:t>제안 배경 및 목적</a:t>
            </a:r>
          </a:p>
        </p:txBody>
      </p:sp>
      <p:sp>
        <p:nvSpPr>
          <p:cNvPr id="5" name="Rectangle 4"/>
          <p:cNvSpPr/>
          <p:nvPr/>
        </p:nvSpPr>
        <p:spPr>
          <a:xfrm>
            <a:off x="540000" y="1188000"/>
            <a:ext cx="1440000" cy="28800"/>
          </a:xfrm>
          <a:prstGeom prst="rect">
            <a:avLst/>
          </a:prstGeom>
          <a:solidFill>
            <a:srgbClr val="0238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7273263"/>
            <a:ext cx="10693400" cy="28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0000" y="7309264"/>
            <a:ext cx="36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64748B"/>
                </a:solidFill>
                <a:latin typeface="Malgun Gothic"/>
              </a:defRPr>
              <a:lnSpc>
                <a:spcPct val="120000"/>
              </a:lnSpc>
            </a:pPr>
            <a:r>
              <a:t>FASTpass® SPKD — 전자여권 위·변조 검사 시스템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00000" y="7309264"/>
            <a:ext cx="216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64748B"/>
                </a:solidFill>
                <a:latin typeface="Malgun Gothic"/>
              </a:defRPr>
              <a:lnSpc>
                <a:spcPct val="120000"/>
              </a:lnSpc>
            </a:pPr>
            <a:r>
              <a:t>© 2026 SMARTCORE Inc.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0000" y="1368000"/>
            <a:ext cx="432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2563EB"/>
                </a:solidFill>
                <a:latin typeface="Malgun Gothic"/>
              </a:defRPr>
              <a:lnSpc>
                <a:spcPct val="120000"/>
              </a:lnSpc>
            </a:pPr>
            <a:r>
              <a:t>제안 배경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0000" y="1655999"/>
            <a:ext cx="432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F172A"/>
                </a:solidFill>
                <a:latin typeface="Malgun Gothic"/>
              </a:defRPr>
              <a:lnSpc>
                <a:spcPct val="120000"/>
              </a:lnSpc>
            </a:pPr>
            <a:r>
              <a:t>* 시스템 노후화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0000" y="1835999"/>
            <a:ext cx="432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64748B"/>
                </a:solidFill>
                <a:latin typeface="Malgun Gothic"/>
              </a:defRPr>
              <a:lnSpc>
                <a:spcPct val="120000"/>
              </a:lnSpc>
            </a:pPr>
            <a:r>
              <a:t>현 PKD Manager 2009년 도입, HW/SW 내용연수 초과 · 지원 만료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0000" y="2196000"/>
            <a:ext cx="432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F172A"/>
                </a:solidFill>
                <a:latin typeface="Malgun Gothic"/>
              </a:defRPr>
              <a:lnSpc>
                <a:spcPct val="120000"/>
              </a:lnSpc>
            </a:pPr>
            <a:r>
              <a:t>* 기술 표준 변경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0000" y="2376000"/>
            <a:ext cx="432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64748B"/>
                </a:solidFill>
                <a:latin typeface="Malgun Gothic"/>
              </a:defRPr>
              <a:lnSpc>
                <a:spcPct val="120000"/>
              </a:lnSpc>
            </a:pPr>
            <a:r>
              <a:t>LDS 1.8, PACE 등 신규 기술 미지원 (ICAO 2028년 의무 적용 예정)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0000" y="2736000"/>
            <a:ext cx="432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F172A"/>
                </a:solidFill>
                <a:latin typeface="Malgun Gothic"/>
              </a:defRPr>
              <a:lnSpc>
                <a:spcPct val="120000"/>
              </a:lnSpc>
            </a:pPr>
            <a:r>
              <a:t>* 위조 기술 고도화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0000" y="2916000"/>
            <a:ext cx="432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64748B"/>
                </a:solidFill>
                <a:latin typeface="Malgun Gothic"/>
              </a:defRPr>
              <a:lnSpc>
                <a:spcPct val="120000"/>
              </a:lnSpc>
            </a:pPr>
            <a:r>
              <a:t>BAC 통과 + 칩 데이터 정상 읽기까지 가능한 3세대 정밀 위조 급증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0000" y="3276000"/>
            <a:ext cx="432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F172A"/>
                </a:solidFill>
                <a:latin typeface="Malgun Gothic"/>
              </a:defRPr>
              <a:lnSpc>
                <a:spcPct val="120000"/>
              </a:lnSpc>
            </a:pPr>
            <a:r>
              <a:t>* 서비스 범위 확대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0000" y="3456000"/>
            <a:ext cx="432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64748B"/>
                </a:solidFill>
                <a:latin typeface="Malgun Gothic"/>
              </a:defRPr>
              <a:lnSpc>
                <a:spcPct val="120000"/>
              </a:lnSpc>
            </a:pPr>
            <a:r>
              <a:t>입·출국심사 외 인천공항공사, 재외공관 등 확장 필요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40000" y="1368000"/>
            <a:ext cx="432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59669"/>
                </a:solidFill>
                <a:latin typeface="Malgun Gothic"/>
              </a:defRPr>
              <a:lnSpc>
                <a:spcPct val="120000"/>
              </a:lnSpc>
            </a:pPr>
            <a:r>
              <a:t>사업 목적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40000" y="1655999"/>
            <a:ext cx="36000" cy="4320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220000" y="1655999"/>
            <a:ext cx="396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F172A"/>
                </a:solidFill>
                <a:latin typeface="Malgun Gothic"/>
              </a:defRPr>
              <a:lnSpc>
                <a:spcPct val="120000"/>
              </a:lnSpc>
            </a:pPr>
            <a:r>
              <a:t>1. 전자여권시스템 전면 재구축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20000" y="1835999"/>
            <a:ext cx="39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64748B"/>
                </a:solidFill>
                <a:latin typeface="Malgun Gothic"/>
              </a:defRPr>
              <a:lnSpc>
                <a:spcPct val="120000"/>
              </a:lnSpc>
            </a:pPr>
            <a:r>
              <a:t>변경된 기술 표준(LDS 1.8, PACE) 반영 및 인증 체계 고도화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40000" y="2196000"/>
            <a:ext cx="36000" cy="4320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220000" y="2196000"/>
            <a:ext cx="396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F172A"/>
                </a:solidFill>
                <a:latin typeface="Malgun Gothic"/>
              </a:defRPr>
              <a:lnSpc>
                <a:spcPct val="120000"/>
              </a:lnSpc>
            </a:pPr>
            <a:r>
              <a:t>2. Local PKD (재)구축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20000" y="2376000"/>
            <a:ext cx="39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64748B"/>
                </a:solidFill>
                <a:latin typeface="Malgun Gothic"/>
              </a:defRPr>
              <a:lnSpc>
                <a:spcPct val="120000"/>
              </a:lnSpc>
            </a:pPr>
            <a:r>
              <a:t>ICAO PKD–Local PKD 연계, PKD 체계 활용성 강화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40000" y="2736000"/>
            <a:ext cx="36000" cy="4320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220000" y="2736000"/>
            <a:ext cx="396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F172A"/>
                </a:solidFill>
                <a:latin typeface="Malgun Gothic"/>
              </a:defRPr>
              <a:lnSpc>
                <a:spcPct val="120000"/>
              </a:lnSpc>
            </a:pPr>
            <a:r>
              <a:t>3. 전자칩 분석 능력 강화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20000" y="2916000"/>
            <a:ext cx="39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64748B"/>
                </a:solidFill>
                <a:latin typeface="Malgun Gothic"/>
              </a:defRPr>
              <a:lnSpc>
                <a:spcPct val="120000"/>
              </a:lnSpc>
            </a:pPr>
            <a:r>
              <a:t>정밀분석·패턴분석·결함처리 프로그램으로 검증 결과 신뢰도 향상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40000" y="3276000"/>
            <a:ext cx="36000" cy="4320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220000" y="3276000"/>
            <a:ext cx="396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F172A"/>
                </a:solidFill>
                <a:latin typeface="Malgun Gothic"/>
              </a:defRPr>
              <a:lnSpc>
                <a:spcPct val="120000"/>
              </a:lnSpc>
            </a:pPr>
            <a:r>
              <a:t>4. 운영 관리성·가시성 확보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220000" y="3456000"/>
            <a:ext cx="396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64748B"/>
                </a:solidFill>
                <a:latin typeface="Malgun Gothic"/>
              </a:defRPr>
              <a:lnSpc>
                <a:spcPct val="120000"/>
              </a:lnSpc>
            </a:pPr>
            <a:r>
              <a:t>모니터링 에이전트, 운영 통계, 발급상 결함정보 관리 체계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93400" cy="54000"/>
          </a:xfrm>
          <a:prstGeom prst="rect">
            <a:avLst/>
          </a:prstGeom>
          <a:solidFill>
            <a:srgbClr val="0238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0000" y="432000"/>
            <a:ext cx="1980000" cy="251999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  <a:latin typeface="Malgun Gothic"/>
              </a:defRPr>
            </a:pPr>
            <a:r>
              <a:t>Part 1 — 현황 분석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756000"/>
            <a:ext cx="864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F172A"/>
                </a:solidFill>
                <a:latin typeface="Malgun Gothic"/>
              </a:defRPr>
              <a:lnSpc>
                <a:spcPct val="120000"/>
              </a:lnSpc>
            </a:pPr>
            <a:r>
              <a:t>현행 전자여권시스템 현황과 문제점</a:t>
            </a:r>
          </a:p>
        </p:txBody>
      </p:sp>
      <p:sp>
        <p:nvSpPr>
          <p:cNvPr id="5" name="Rectangle 4"/>
          <p:cNvSpPr/>
          <p:nvPr/>
        </p:nvSpPr>
        <p:spPr>
          <a:xfrm>
            <a:off x="540000" y="1188000"/>
            <a:ext cx="1440000" cy="28800"/>
          </a:xfrm>
          <a:prstGeom prst="rect">
            <a:avLst/>
          </a:prstGeom>
          <a:solidFill>
            <a:srgbClr val="0238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7273263"/>
            <a:ext cx="10693400" cy="28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0000" y="7309264"/>
            <a:ext cx="36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64748B"/>
                </a:solidFill>
                <a:latin typeface="Malgun Gothic"/>
              </a:defRPr>
              <a:lnSpc>
                <a:spcPct val="120000"/>
              </a:lnSpc>
            </a:pPr>
            <a:r>
              <a:t>FASTpass® SPKD — 전자여권 위·변조 검사 시스템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00000" y="7309264"/>
            <a:ext cx="216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64748B"/>
                </a:solidFill>
                <a:latin typeface="Malgun Gothic"/>
              </a:defRPr>
              <a:lnSpc>
                <a:spcPct val="120000"/>
              </a:lnSpc>
            </a:pPr>
            <a:r>
              <a:t>© 2026 SMARTCORE Inc.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0000" y="1368000"/>
            <a:ext cx="360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2563EB"/>
                </a:solidFill>
                <a:latin typeface="Malgun Gothic"/>
              </a:defRPr>
              <a:lnSpc>
                <a:spcPct val="120000"/>
              </a:lnSpc>
            </a:pPr>
            <a:r>
              <a:t>현행 운영 현황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0000" y="1620000"/>
            <a:ext cx="432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F172A"/>
                </a:solidFill>
                <a:latin typeface="Malgun Gothic"/>
              </a:defRPr>
              <a:lnSpc>
                <a:spcPct val="120000"/>
              </a:lnSpc>
            </a:pPr>
            <a:r>
              <a:t>✓ ICRM 기반 입·출국심사 시 전자여권 판독·인증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0000" y="1872000"/>
            <a:ext cx="432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F172A"/>
                </a:solidFill>
                <a:latin typeface="Malgun Gothic"/>
              </a:defRPr>
              <a:lnSpc>
                <a:spcPct val="120000"/>
              </a:lnSpc>
            </a:pPr>
            <a:r>
              <a:t>✓ BAC/CA/AA 인증 + PKI Toolkit PA 검증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0000" y="2124000"/>
            <a:ext cx="432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F172A"/>
                </a:solidFill>
                <a:latin typeface="Malgun Gothic"/>
              </a:defRPr>
              <a:lnSpc>
                <a:spcPct val="120000"/>
              </a:lnSpc>
            </a:pPr>
            <a:r>
              <a:t>✓ 자동출입국심사(SES) 18개국 운영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0000" y="2376000"/>
            <a:ext cx="432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F172A"/>
                </a:solidFill>
                <a:latin typeface="Malgun Gothic"/>
              </a:defRPr>
              <a:lnSpc>
                <a:spcPct val="120000"/>
              </a:lnSpc>
            </a:pPr>
            <a:r>
              <a:t>✓ PKD Manager로 ICAO PKD → Local PKD 동기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0000" y="2700000"/>
            <a:ext cx="360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E11D48"/>
                </a:solidFill>
                <a:latin typeface="Malgun Gothic"/>
              </a:defRPr>
              <a:lnSpc>
                <a:spcPct val="120000"/>
              </a:lnSpc>
            </a:pPr>
            <a:r>
              <a:t>핵심 문제점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0000" y="2951999"/>
            <a:ext cx="432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4B5563"/>
                </a:solidFill>
                <a:latin typeface="Malgun Gothic"/>
              </a:defRPr>
              <a:lnSpc>
                <a:spcPct val="120000"/>
              </a:lnSpc>
            </a:pPr>
            <a:r>
              <a:t>✗ 시스템 노후화 — PKD Manager 2009년 도입, HW/SW 6년+ 내용연수 초과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0000" y="3240000"/>
            <a:ext cx="432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4B5563"/>
                </a:solidFill>
                <a:latin typeface="Malgun Gothic"/>
              </a:defRPr>
              <a:lnSpc>
                <a:spcPct val="120000"/>
              </a:lnSpc>
            </a:pPr>
            <a:r>
              <a:t>✗ 기술 표준 미지원 — LDS 1.8, PACE 미지원 (ICAO 2028년 의무 적용 권고)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0000" y="3527999"/>
            <a:ext cx="432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4B5563"/>
                </a:solidFill>
                <a:latin typeface="Malgun Gothic"/>
              </a:defRPr>
              <a:lnSpc>
                <a:spcPct val="120000"/>
              </a:lnSpc>
            </a:pPr>
            <a:r>
              <a:t>✗ ML 미활용 — ICAO Master List 통한 CSCA 인증서 보조 수집·검증 부재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0000" y="3816000"/>
            <a:ext cx="432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4B5563"/>
                </a:solidFill>
                <a:latin typeface="Malgun Gothic"/>
              </a:defRPr>
              <a:lnSpc>
                <a:spcPct val="120000"/>
              </a:lnSpc>
            </a:pPr>
            <a:r>
              <a:t>✗ DL·NC 미활용 — 각국 DL 및 비표준 DSC 미준수 사항 관리·조회 부재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40000" y="1368000"/>
            <a:ext cx="432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D97706"/>
                </a:solidFill>
                <a:latin typeface="Malgun Gothic"/>
              </a:defRPr>
              <a:lnSpc>
                <a:spcPct val="120000"/>
              </a:lnSpc>
            </a:pPr>
            <a:r>
              <a:t>추가 개선 필요 사항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40000" y="1655999"/>
            <a:ext cx="792000" cy="251999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2563EB"/>
                </a:solidFill>
                <a:latin typeface="Malgun Gothic"/>
              </a:defRPr>
            </a:pPr>
            <a:r>
              <a:t>검증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0000" y="1673999"/>
            <a:ext cx="324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0F172A"/>
                </a:solidFill>
                <a:latin typeface="Malgun Gothic"/>
              </a:defRPr>
              <a:lnSpc>
                <a:spcPct val="120000"/>
              </a:lnSpc>
            </a:pPr>
            <a:r>
              <a:t>검증 결과 인식성 부족 — 성공/실패 이분법, 신뢰도 개념 부재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40000" y="2196000"/>
            <a:ext cx="792000" cy="251999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2563EB"/>
                </a:solidFill>
                <a:latin typeface="Malgun Gothic"/>
              </a:defRPr>
            </a:pPr>
            <a:r>
              <a:t>분석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0000" y="2214000"/>
            <a:ext cx="324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0F172A"/>
                </a:solidFill>
                <a:latin typeface="Malgun Gothic"/>
              </a:defRPr>
              <a:lnSpc>
                <a:spcPct val="120000"/>
              </a:lnSpc>
            </a:pPr>
            <a:r>
              <a:t>전자칩 분석도구 부재 — 위·변조 의심 시 상세 분석 소프트웨어 없음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040000" y="2736000"/>
            <a:ext cx="792000" cy="251999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2563EB"/>
                </a:solidFill>
                <a:latin typeface="Malgun Gothic"/>
              </a:defRPr>
            </a:pPr>
            <a:r>
              <a:t>모니터링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0000" y="2754000"/>
            <a:ext cx="324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0F172A"/>
                </a:solidFill>
                <a:latin typeface="Malgun Gothic"/>
              </a:defRPr>
              <a:lnSpc>
                <a:spcPct val="120000"/>
              </a:lnSpc>
            </a:pPr>
            <a:r>
              <a:t>모니터링 체계 부재 — 오류 빈도·유형 사전 탐지 기능 미구현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40000" y="3276000"/>
            <a:ext cx="792000" cy="251999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2563EB"/>
                </a:solidFill>
                <a:latin typeface="Malgun Gothic"/>
              </a:defRPr>
            </a:pPr>
            <a:r>
              <a:t>관리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40000" y="3294000"/>
            <a:ext cx="324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0F172A"/>
                </a:solidFill>
                <a:latin typeface="Malgun Gothic"/>
              </a:defRPr>
              <a:lnSpc>
                <a:spcPct val="120000"/>
              </a:lnSpc>
            </a:pPr>
            <a:r>
              <a:t>인증서 관리 제약 — PKD Manager 별도 관리 기능 미제공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040000" y="3816000"/>
            <a:ext cx="792000" cy="251999"/>
          </a:xfrm>
          <a:prstGeom prst="roundRect">
            <a:avLst/>
          </a:prstGeom>
          <a:solidFill>
            <a:srgbClr val="EFF6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2563EB"/>
                </a:solidFill>
                <a:latin typeface="Malgun Gothic"/>
              </a:defRPr>
            </a:pPr>
            <a:r>
              <a:t>범위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0000" y="3834000"/>
            <a:ext cx="324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0F172A"/>
                </a:solidFill>
                <a:latin typeface="Malgun Gothic"/>
              </a:defRPr>
              <a:lnSpc>
                <a:spcPct val="120000"/>
              </a:lnSpc>
            </a:pPr>
            <a:r>
              <a:t>서비스 범위 한정 — 출입국심사만 대상, 인천공항공사 등 확장 필요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93400" cy="54000"/>
          </a:xfrm>
          <a:prstGeom prst="rect">
            <a:avLst/>
          </a:prstGeom>
          <a:solidFill>
            <a:srgbClr val="0238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0000" y="432000"/>
            <a:ext cx="1980000" cy="251999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  <a:latin typeface="Malgun Gothic"/>
              </a:defRPr>
            </a:pPr>
            <a:r>
              <a:t>Part 1 — 사업 이해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756000"/>
            <a:ext cx="864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F172A"/>
                </a:solidFill>
                <a:latin typeface="Malgun Gothic"/>
              </a:defRPr>
              <a:lnSpc>
                <a:spcPct val="120000"/>
              </a:lnSpc>
            </a:pPr>
            <a:r>
              <a:t>사업 과제 대응 범위</a:t>
            </a:r>
          </a:p>
        </p:txBody>
      </p:sp>
      <p:sp>
        <p:nvSpPr>
          <p:cNvPr id="5" name="Rectangle 4"/>
          <p:cNvSpPr/>
          <p:nvPr/>
        </p:nvSpPr>
        <p:spPr>
          <a:xfrm>
            <a:off x="540000" y="1188000"/>
            <a:ext cx="1440000" cy="28800"/>
          </a:xfrm>
          <a:prstGeom prst="rect">
            <a:avLst/>
          </a:prstGeom>
          <a:solidFill>
            <a:srgbClr val="0238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7273263"/>
            <a:ext cx="10693400" cy="28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0000" y="7309264"/>
            <a:ext cx="36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64748B"/>
                </a:solidFill>
                <a:latin typeface="Malgun Gothic"/>
              </a:defRPr>
              <a:lnSpc>
                <a:spcPct val="120000"/>
              </a:lnSpc>
            </a:pPr>
            <a:r>
              <a:t>FASTpass® SPKD — 전자여권 위·변조 검사 시스템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00000" y="7309264"/>
            <a:ext cx="216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64748B"/>
                </a:solidFill>
                <a:latin typeface="Malgun Gothic"/>
              </a:defRPr>
              <a:lnSpc>
                <a:spcPct val="120000"/>
              </a:lnSpc>
            </a:pPr>
            <a:r>
              <a:t>© 2026 SMARTCORE Inc.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0000" y="1260000"/>
            <a:ext cx="864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4748B"/>
                </a:solidFill>
                <a:latin typeface="Malgun Gothic"/>
              </a:defRPr>
              <a:lnSpc>
                <a:spcPct val="120000"/>
              </a:lnSpc>
            </a:pPr>
            <a:r>
              <a:t>전자여권시스템 재구축 사업계획서 22개 과제 중 FASTpass® SPKD 직접 대응 항목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540000" y="1475999"/>
          <a:ext cx="8640000" cy="30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60000"/>
                <a:gridCol w="3780000"/>
                <a:gridCol w="1800000"/>
              </a:tblGrid>
              <a:tr h="218571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사업 과제</a:t>
                      </a:r>
                    </a:p>
                  </a:txBody>
                  <a:tcPr anchor="ctr">
                    <a:solidFill>
                      <a:srgbClr val="0238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FASTpass® SPKD 대응 기능</a:t>
                      </a:r>
                    </a:p>
                  </a:txBody>
                  <a:tcPr anchor="ctr">
                    <a:solidFill>
                      <a:srgbClr val="0238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상태</a:t>
                      </a:r>
                    </a:p>
                  </a:txBody>
                  <a:tcPr anchor="ctr">
                    <a:solidFill>
                      <a:srgbClr val="02385E"/>
                    </a:solidFill>
                  </a:tcPr>
                </a:tc>
              </a:tr>
              <a:tr h="218571">
                <a:tc>
                  <a:txBody>
                    <a:bodyPr/>
                    <a:lstStyle/>
                    <a:p>
                      <a:pPr algn="l">
                        <a:defRPr sz="700" b="1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전자여권 인증(PA) 공통 프로그램</a:t>
                      </a:r>
                    </a:p>
                  </a:txBody>
                  <a:tcPr anchor="ctr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PA Service — ICAO 9303 8단계 검증</a:t>
                      </a:r>
                    </a:p>
                  </a:txBody>
                  <a:tcPr anchor="ctr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059669"/>
                          </a:solidFill>
                          <a:latin typeface="Malgun Gothic"/>
                        </a:defRPr>
                      </a:pPr>
                      <a:r>
                        <a:t>완전 대응</a:t>
                      </a:r>
                    </a:p>
                  </a:txBody>
                  <a:tcPr anchor="ctr">
                    <a:solidFill>
                      <a:srgbClr val="EFF6FF"/>
                    </a:solidFill>
                  </a:tcPr>
                </a:tc>
              </a:tr>
              <a:tr h="218571">
                <a:tc>
                  <a:txBody>
                    <a:bodyPr/>
                    <a:lstStyle/>
                    <a:p>
                      <a:pPr algn="l">
                        <a:defRPr sz="700" b="1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Local PKD 구축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ICAO PKD + 양자협정 + DB/LDAP 통합 저장소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059669"/>
                          </a:solidFill>
                          <a:latin typeface="Malgun Gothic"/>
                        </a:defRPr>
                      </a:pPr>
                      <a:r>
                        <a:t>완전 대응</a:t>
                      </a:r>
                    </a:p>
                  </a:txBody>
                  <a:tcPr anchor="ctr"/>
                </a:tc>
              </a:tr>
              <a:tr h="218571">
                <a:tc>
                  <a:txBody>
                    <a:bodyPr/>
                    <a:lstStyle/>
                    <a:p>
                      <a:pPr algn="l">
                        <a:defRPr sz="700" b="1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Local PKD 관리 프로그램</a:t>
                      </a:r>
                    </a:p>
                  </a:txBody>
                  <a:tcPr anchor="ctr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PKD Management — ML/CSCA/DS/CRL/DL 관리</a:t>
                      </a:r>
                    </a:p>
                  </a:txBody>
                  <a:tcPr anchor="ctr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059669"/>
                          </a:solidFill>
                          <a:latin typeface="Malgun Gothic"/>
                        </a:defRPr>
                      </a:pPr>
                      <a:r>
                        <a:t>완전 대응</a:t>
                      </a:r>
                    </a:p>
                  </a:txBody>
                  <a:tcPr anchor="ctr">
                    <a:solidFill>
                      <a:srgbClr val="EFF6FF"/>
                    </a:solidFill>
                  </a:tcPr>
                </a:tc>
              </a:tr>
              <a:tr h="218571">
                <a:tc>
                  <a:txBody>
                    <a:bodyPr/>
                    <a:lstStyle/>
                    <a:p>
                      <a:pPr algn="l">
                        <a:defRPr sz="700" b="1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전자여권 운영환경 관리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환경설정, 인증 적용 여부 관리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2563EB"/>
                          </a:solidFill>
                          <a:latin typeface="Malgun Gothic"/>
                        </a:defRPr>
                      </a:pPr>
                      <a:r>
                        <a:t>부분 대응</a:t>
                      </a:r>
                    </a:p>
                  </a:txBody>
                  <a:tcPr anchor="ctr"/>
                </a:tc>
              </a:tr>
              <a:tr h="218571">
                <a:tc>
                  <a:txBody>
                    <a:bodyPr/>
                    <a:lstStyle/>
                    <a:p>
                      <a:pPr algn="l">
                        <a:defRPr sz="700" b="1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전자여권 정밀분석 프로그램</a:t>
                      </a:r>
                    </a:p>
                  </a:txBody>
                  <a:tcPr anchor="ctr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인증서 직접 파싱·분석, Doc 9303 준수 검사</a:t>
                      </a:r>
                    </a:p>
                  </a:txBody>
                  <a:tcPr anchor="ctr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059669"/>
                          </a:solidFill>
                          <a:latin typeface="Malgun Gothic"/>
                        </a:defRPr>
                      </a:pPr>
                      <a:r>
                        <a:t>완전 대응</a:t>
                      </a:r>
                    </a:p>
                  </a:txBody>
                  <a:tcPr anchor="ctr">
                    <a:solidFill>
                      <a:srgbClr val="EFF6FF"/>
                    </a:solidFill>
                  </a:tcPr>
                </a:tc>
              </a:tr>
              <a:tr h="218571">
                <a:tc>
                  <a:txBody>
                    <a:bodyPr/>
                    <a:lstStyle/>
                    <a:p>
                      <a:pPr algn="l">
                        <a:defRPr sz="700" b="1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전자여권 인증 결함처리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Doc 9303 Compliance Checklist (28개 항목)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059669"/>
                          </a:solidFill>
                          <a:latin typeface="Malgun Gothic"/>
                        </a:defRPr>
                      </a:pPr>
                      <a:r>
                        <a:t>완전 대응</a:t>
                      </a:r>
                    </a:p>
                  </a:txBody>
                  <a:tcPr anchor="ctr"/>
                </a:tc>
              </a:tr>
              <a:tr h="218571">
                <a:tc>
                  <a:txBody>
                    <a:bodyPr/>
                    <a:lstStyle/>
                    <a:p>
                      <a:pPr algn="l">
                        <a:defRPr sz="700" b="1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데이터 수집 및 패턴분석</a:t>
                      </a:r>
                    </a:p>
                  </a:txBody>
                  <a:tcPr anchor="ctr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검증 결과 데이터 수집 · 국가별/유형별 통계 분석</a:t>
                      </a:r>
                    </a:p>
                  </a:txBody>
                  <a:tcPr anchor="ctr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059669"/>
                          </a:solidFill>
                          <a:latin typeface="Malgun Gothic"/>
                        </a:defRPr>
                      </a:pPr>
                      <a:r>
                        <a:t>완전 대응</a:t>
                      </a:r>
                    </a:p>
                  </a:txBody>
                  <a:tcPr anchor="ctr">
                    <a:solidFill>
                      <a:srgbClr val="EFF6FF"/>
                    </a:solidFill>
                  </a:tcPr>
                </a:tc>
              </a:tr>
              <a:tr h="218571">
                <a:tc>
                  <a:txBody>
                    <a:bodyPr/>
                    <a:lstStyle/>
                    <a:p>
                      <a:pPr algn="l">
                        <a:defRPr sz="700" b="1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비정상 패턴 데이터 관리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오류 유형별 목록 조회 · 빈도/그래프 통계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059669"/>
                          </a:solidFill>
                          <a:latin typeface="Malgun Gothic"/>
                        </a:defRPr>
                      </a:pPr>
                      <a:r>
                        <a:t>완전 대응</a:t>
                      </a:r>
                    </a:p>
                  </a:txBody>
                  <a:tcPr anchor="ctr"/>
                </a:tc>
              </a:tr>
              <a:tr h="218571">
                <a:tc>
                  <a:txBody>
                    <a:bodyPr/>
                    <a:lstStyle/>
                    <a:p>
                      <a:pPr algn="l">
                        <a:defRPr sz="700" b="1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판독·인증 오류 데이터 관리</a:t>
                      </a:r>
                    </a:p>
                  </a:txBody>
                  <a:tcPr anchor="ctr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오류 건별 상세조회 · 바이너리 데이터 다운로드</a:t>
                      </a:r>
                    </a:p>
                  </a:txBody>
                  <a:tcPr anchor="ctr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059669"/>
                          </a:solidFill>
                          <a:latin typeface="Malgun Gothic"/>
                        </a:defRPr>
                      </a:pPr>
                      <a:r>
                        <a:t>완전 대응</a:t>
                      </a:r>
                    </a:p>
                  </a:txBody>
                  <a:tcPr anchor="ctr">
                    <a:solidFill>
                      <a:srgbClr val="EFF6FF"/>
                    </a:solidFill>
                  </a:tcPr>
                </a:tc>
              </a:tr>
              <a:tr h="218571">
                <a:tc>
                  <a:txBody>
                    <a:bodyPr/>
                    <a:lstStyle/>
                    <a:p>
                      <a:pPr algn="l">
                        <a:defRPr sz="700" b="1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발급상 결함정보 관리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DL/Non-Conformant 조회·관리 기능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059669"/>
                          </a:solidFill>
                          <a:latin typeface="Malgun Gothic"/>
                        </a:defRPr>
                      </a:pPr>
                      <a:r>
                        <a:t>완전 대응</a:t>
                      </a:r>
                    </a:p>
                  </a:txBody>
                  <a:tcPr anchor="ctr"/>
                </a:tc>
              </a:tr>
              <a:tr h="218571">
                <a:tc>
                  <a:txBody>
                    <a:bodyPr/>
                    <a:lstStyle/>
                    <a:p>
                      <a:pPr algn="l">
                        <a:defRPr sz="700" b="1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판독·인증 운영 통계 조회</a:t>
                      </a:r>
                    </a:p>
                  </a:txBody>
                  <a:tcPr anchor="ctr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Dashboard + 보고서 (DSC_NC/CRL/Trust Chain)</a:t>
                      </a:r>
                    </a:p>
                  </a:txBody>
                  <a:tcPr anchor="ctr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059669"/>
                          </a:solidFill>
                          <a:latin typeface="Malgun Gothic"/>
                        </a:defRPr>
                      </a:pPr>
                      <a:r>
                        <a:t>완전 대응</a:t>
                      </a:r>
                    </a:p>
                  </a:txBody>
                  <a:tcPr anchor="ctr">
                    <a:solidFill>
                      <a:srgbClr val="EFF6FF"/>
                    </a:solidFill>
                  </a:tcPr>
                </a:tc>
              </a:tr>
              <a:tr h="218571">
                <a:tc>
                  <a:txBody>
                    <a:bodyPr/>
                    <a:lstStyle/>
                    <a:p>
                      <a:pPr algn="l">
                        <a:defRPr sz="700" b="1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판독·인증 모니터링 에이전트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Monitoring Service + SSE 실시간 알림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059669"/>
                          </a:solidFill>
                          <a:latin typeface="Malgun Gothic"/>
                        </a:defRPr>
                      </a:pPr>
                      <a:r>
                        <a:t>완전 대응</a:t>
                      </a:r>
                    </a:p>
                  </a:txBody>
                  <a:tcPr anchor="ctr"/>
                </a:tc>
              </a:tr>
              <a:tr h="218577">
                <a:tc>
                  <a:txBody>
                    <a:bodyPr/>
                    <a:lstStyle/>
                    <a:p>
                      <a:pPr algn="l">
                        <a:defRPr sz="700" b="1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입·출국심사 시 판독·인증</a:t>
                      </a:r>
                    </a:p>
                  </a:txBody>
                  <a:tcPr anchor="ctr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REST API + X-API-Key 인증 연동</a:t>
                      </a:r>
                    </a:p>
                  </a:txBody>
                  <a:tcPr anchor="ctr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2563EB"/>
                          </a:solidFill>
                          <a:latin typeface="Malgun Gothic"/>
                        </a:defRPr>
                      </a:pPr>
                      <a:r>
                        <a:t>API 제공</a:t>
                      </a:r>
                    </a:p>
                  </a:txBody>
                  <a:tcPr anchor="ctr">
                    <a:solidFill>
                      <a:srgbClr val="EFF6FF"/>
                    </a:solidFill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2520000" y="4680000"/>
            <a:ext cx="1620000" cy="72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628000" y="4788000"/>
            <a:ext cx="1404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059669"/>
                </a:solidFill>
                <a:latin typeface="Malgun Gothic"/>
              </a:defRPr>
              <a:lnSpc>
                <a:spcPct val="120000"/>
              </a:lnSpc>
            </a:pPr>
            <a:r>
              <a:t>11/22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628000" y="5220000"/>
            <a:ext cx="1404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64748B"/>
                </a:solidFill>
                <a:latin typeface="Malgun Gothic"/>
              </a:defRPr>
              <a:lnSpc>
                <a:spcPct val="120000"/>
              </a:lnSpc>
            </a:pPr>
            <a:r>
              <a:t>완전 대응 과제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40000" y="4680000"/>
            <a:ext cx="1620000" cy="72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48000" y="4788000"/>
            <a:ext cx="1404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563EB"/>
                </a:solidFill>
                <a:latin typeface="Malgun Gothic"/>
              </a:defRPr>
              <a:lnSpc>
                <a:spcPct val="120000"/>
              </a:lnSpc>
            </a:pPr>
            <a:r>
              <a:t>13/22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48000" y="5220000"/>
            <a:ext cx="1404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64748B"/>
                </a:solidFill>
                <a:latin typeface="Malgun Gothic"/>
              </a:defRPr>
              <a:lnSpc>
                <a:spcPct val="120000"/>
              </a:lnSpc>
            </a:pPr>
            <a:r>
              <a:t>직접 대응 과제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93400" cy="54000"/>
          </a:xfrm>
          <a:prstGeom prst="rect">
            <a:avLst/>
          </a:prstGeom>
          <a:solidFill>
            <a:srgbClr val="0238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0000" y="432000"/>
            <a:ext cx="1980000" cy="251999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  <a:latin typeface="Malgun Gothic"/>
              </a:defRPr>
            </a:pPr>
            <a:r>
              <a:t>Part 1 — 현황 분석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756000"/>
            <a:ext cx="864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F172A"/>
                </a:solidFill>
                <a:latin typeface="Malgun Gothic"/>
              </a:defRPr>
              <a:lnSpc>
                <a:spcPct val="120000"/>
              </a:lnSpc>
            </a:pPr>
            <a:r>
              <a:t>전자여권 위·변조 위협 분석</a:t>
            </a:r>
          </a:p>
        </p:txBody>
      </p:sp>
      <p:sp>
        <p:nvSpPr>
          <p:cNvPr id="5" name="Rectangle 4"/>
          <p:cNvSpPr/>
          <p:nvPr/>
        </p:nvSpPr>
        <p:spPr>
          <a:xfrm>
            <a:off x="540000" y="1188000"/>
            <a:ext cx="1440000" cy="28800"/>
          </a:xfrm>
          <a:prstGeom prst="rect">
            <a:avLst/>
          </a:prstGeom>
          <a:solidFill>
            <a:srgbClr val="0238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7273263"/>
            <a:ext cx="10693400" cy="28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0000" y="7309264"/>
            <a:ext cx="36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64748B"/>
                </a:solidFill>
                <a:latin typeface="Malgun Gothic"/>
              </a:defRPr>
              <a:lnSpc>
                <a:spcPct val="120000"/>
              </a:lnSpc>
            </a:pPr>
            <a:r>
              <a:t>FASTpass® SPKD — 전자여권 위·변조 검사 시스템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00000" y="7309264"/>
            <a:ext cx="216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64748B"/>
                </a:solidFill>
                <a:latin typeface="Malgun Gothic"/>
              </a:defRPr>
              <a:lnSpc>
                <a:spcPct val="120000"/>
              </a:lnSpc>
            </a:pPr>
            <a:r>
              <a:t>© 2026 SMARTCORE Inc.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0000" y="1440000"/>
            <a:ext cx="2052000" cy="9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8000" y="1548000"/>
            <a:ext cx="1836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0F172A"/>
                </a:solidFill>
                <a:latin typeface="Malgun Gothic"/>
              </a:defRPr>
              <a:lnSpc>
                <a:spcPct val="120000"/>
              </a:lnSpc>
            </a:pPr>
            <a:r>
              <a:t>3,200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8000" y="1980000"/>
            <a:ext cx="1836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64748B"/>
                </a:solidFill>
                <a:latin typeface="Malgun Gothic"/>
              </a:defRPr>
              <a:lnSpc>
                <a:spcPct val="120000"/>
              </a:lnSpc>
            </a:pPr>
            <a:r>
              <a:t>2021년 적발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72000" y="1440000"/>
            <a:ext cx="2052000" cy="9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80000" y="1548000"/>
            <a:ext cx="1836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D97706"/>
                </a:solidFill>
                <a:latin typeface="Malgun Gothic"/>
              </a:defRPr>
              <a:lnSpc>
                <a:spcPct val="120000"/>
              </a:lnSpc>
            </a:pPr>
            <a:r>
              <a:t>4,500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80000" y="1980000"/>
            <a:ext cx="1836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64748B"/>
                </a:solidFill>
                <a:latin typeface="Malgun Gothic"/>
              </a:defRPr>
              <a:lnSpc>
                <a:spcPct val="120000"/>
              </a:lnSpc>
            </a:pPr>
            <a:r>
              <a:t>2022년 (↑41%)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04000" y="1440000"/>
            <a:ext cx="2052000" cy="9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112000" y="1548000"/>
            <a:ext cx="1836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E11D48"/>
                </a:solidFill>
                <a:latin typeface="Malgun Gothic"/>
              </a:defRPr>
              <a:lnSpc>
                <a:spcPct val="120000"/>
              </a:lnSpc>
            </a:pPr>
            <a:r>
              <a:t>5,800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12000" y="1980000"/>
            <a:ext cx="1836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64748B"/>
                </a:solidFill>
                <a:latin typeface="Malgun Gothic"/>
              </a:defRPr>
              <a:lnSpc>
                <a:spcPct val="120000"/>
              </a:lnSpc>
            </a:pPr>
            <a:r>
              <a:t>2023년 (↑29%)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236000" y="1440000"/>
            <a:ext cx="2052000" cy="9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44000" y="1548000"/>
            <a:ext cx="1836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E11D48"/>
                </a:solidFill>
                <a:latin typeface="Malgun Gothic"/>
              </a:defRPr>
              <a:lnSpc>
                <a:spcPct val="120000"/>
              </a:lnSpc>
            </a:pPr>
            <a:r>
              <a:t>7,000+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44000" y="1980000"/>
            <a:ext cx="1836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64748B"/>
                </a:solidFill>
                <a:latin typeface="Malgun Gothic"/>
              </a:defRPr>
              <a:lnSpc>
                <a:spcPct val="120000"/>
              </a:lnSpc>
            </a:pPr>
            <a:r>
              <a:t>2024년 추정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0000" y="2700000"/>
            <a:ext cx="720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0F172A"/>
                </a:solidFill>
                <a:latin typeface="Malgun Gothic"/>
              </a:defRPr>
              <a:lnSpc>
                <a:spcPct val="120000"/>
              </a:lnSpc>
            </a:pPr>
            <a:r>
              <a:t>위조 기술 3세대 진화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0000" y="3060000"/>
            <a:ext cx="900000" cy="36000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Malgun Gothic"/>
              </a:defRPr>
            </a:pPr>
            <a:r>
              <a:t>1세대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620000" y="3078000"/>
            <a:ext cx="72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0F172A"/>
                </a:solidFill>
                <a:latin typeface="Malgun Gothic"/>
              </a:defRPr>
              <a:lnSpc>
                <a:spcPct val="120000"/>
              </a:lnSpc>
            </a:pPr>
            <a:r>
              <a:t>MRZ 위조 — 기계 판독 영역 조작 (육안 검사로 발견)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0000" y="3780000"/>
            <a:ext cx="900000" cy="360000"/>
          </a:xfrm>
          <a:prstGeom prst="roundRect">
            <a:avLst/>
          </a:prstGeom>
          <a:solidFill>
            <a:srgbClr val="E11D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Malgun Gothic"/>
              </a:defRPr>
            </a:pPr>
            <a:r>
              <a:t>2세대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620000" y="3798000"/>
            <a:ext cx="72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0F172A"/>
                </a:solidFill>
                <a:latin typeface="Malgun Gothic"/>
              </a:defRPr>
              <a:lnSpc>
                <a:spcPct val="120000"/>
              </a:lnSpc>
            </a:pPr>
            <a:r>
              <a:t>칩 복제 — 원본 데이터 복사 (BAC 통과)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0000" y="4500000"/>
            <a:ext cx="900000" cy="36000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 b="1">
                <a:solidFill>
                  <a:srgbClr val="FFFFFF"/>
                </a:solidFill>
                <a:latin typeface="Malgun Gothic"/>
              </a:defRPr>
            </a:pPr>
            <a:r>
              <a:t>3세대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20000" y="4518000"/>
            <a:ext cx="72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0F172A"/>
                </a:solidFill>
                <a:latin typeface="Malgun Gothic"/>
              </a:defRPr>
              <a:lnSpc>
                <a:spcPct val="120000"/>
              </a:lnSpc>
            </a:pPr>
            <a:r>
              <a:t>정밀 위조 — BAC·육안 모두 통과, PA만이 탐지 가능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93400" cy="54000"/>
          </a:xfrm>
          <a:prstGeom prst="rect">
            <a:avLst/>
          </a:prstGeom>
          <a:solidFill>
            <a:srgbClr val="0238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0000" y="432000"/>
            <a:ext cx="1980000" cy="251999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  <a:latin typeface="Malgun Gothic"/>
              </a:defRPr>
            </a:pPr>
            <a:r>
              <a:t>Part 1 — 개선 방향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756000"/>
            <a:ext cx="864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F172A"/>
                </a:solidFill>
                <a:latin typeface="Malgun Gothic"/>
              </a:defRPr>
              <a:lnSpc>
                <a:spcPct val="120000"/>
              </a:lnSpc>
            </a:pPr>
            <a:r>
              <a:t>Passive Authentication 검증 체계 도입의 필요성</a:t>
            </a:r>
          </a:p>
        </p:txBody>
      </p:sp>
      <p:sp>
        <p:nvSpPr>
          <p:cNvPr id="5" name="Rectangle 4"/>
          <p:cNvSpPr/>
          <p:nvPr/>
        </p:nvSpPr>
        <p:spPr>
          <a:xfrm>
            <a:off x="540000" y="1188000"/>
            <a:ext cx="1440000" cy="28800"/>
          </a:xfrm>
          <a:prstGeom prst="rect">
            <a:avLst/>
          </a:prstGeom>
          <a:solidFill>
            <a:srgbClr val="0238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7273263"/>
            <a:ext cx="10693400" cy="28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0000" y="7309264"/>
            <a:ext cx="36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64748B"/>
                </a:solidFill>
                <a:latin typeface="Malgun Gothic"/>
              </a:defRPr>
              <a:lnSpc>
                <a:spcPct val="120000"/>
              </a:lnSpc>
            </a:pPr>
            <a:r>
              <a:t>FASTpass® SPKD — 전자여권 위·변조 검사 시스템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00000" y="7309264"/>
            <a:ext cx="216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64748B"/>
                </a:solidFill>
                <a:latin typeface="Malgun Gothic"/>
              </a:defRPr>
              <a:lnSpc>
                <a:spcPct val="120000"/>
              </a:lnSpc>
            </a:pPr>
            <a:r>
              <a:t>© 2026 SMARTCORE Inc.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0000" y="1440000"/>
            <a:ext cx="4320000" cy="54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40000" y="1440000"/>
            <a:ext cx="36000" cy="5400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0000" y="1475999"/>
            <a:ext cx="396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64748B"/>
                </a:solidFill>
                <a:latin typeface="Malgun Gothic"/>
              </a:defRPr>
              <a:lnSpc>
                <a:spcPct val="120000"/>
              </a:lnSpc>
            </a:pPr>
            <a:r>
              <a:t>2010년대 — ICAO 권고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0000" y="1620000"/>
            <a:ext cx="396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0F172A"/>
                </a:solidFill>
                <a:latin typeface="Malgun Gothic"/>
              </a:defRPr>
              <a:lnSpc>
                <a:spcPct val="120000"/>
              </a:lnSpc>
            </a:pPr>
            <a:r>
              <a:t>"Passive Authentication is recommended"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0000" y="2088000"/>
            <a:ext cx="4320000" cy="54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40000" y="2088000"/>
            <a:ext cx="36000" cy="5400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20000" y="2124000"/>
            <a:ext cx="396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64748B"/>
                </a:solidFill>
                <a:latin typeface="Malgun Gothic"/>
              </a:defRPr>
              <a:lnSpc>
                <a:spcPct val="120000"/>
              </a:lnSpc>
            </a:pPr>
            <a:r>
              <a:t>2024년 — ICAO Doc 9303 개정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0000" y="2268000"/>
            <a:ext cx="396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59669"/>
                </a:solidFill>
                <a:latin typeface="Malgun Gothic"/>
              </a:defRPr>
              <a:lnSpc>
                <a:spcPct val="120000"/>
              </a:lnSpc>
            </a:pPr>
            <a:r>
              <a:t>"Passive Authentication MUST be implemented"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0000" y="2808000"/>
            <a:ext cx="432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F172A"/>
                </a:solidFill>
                <a:latin typeface="Malgun Gothic"/>
              </a:defRPr>
              <a:lnSpc>
                <a:spcPct val="120000"/>
              </a:lnSpc>
            </a:pPr>
            <a:r>
              <a:t>PA 검증이 보장하는 것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0000" y="3060000"/>
            <a:ext cx="432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0F172A"/>
                </a:solidFill>
                <a:latin typeface="Malgun Gothic"/>
              </a:defRPr>
              <a:lnSpc>
                <a:spcPct val="120000"/>
              </a:lnSpc>
            </a:pPr>
            <a:r>
              <a:t>✓ 칩 데이터 무결성 — SOD 서명으로 변조 탐지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0000" y="3311999"/>
            <a:ext cx="432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0F172A"/>
                </a:solidFill>
                <a:latin typeface="Malgun Gothic"/>
              </a:defRPr>
              <a:lnSpc>
                <a:spcPct val="120000"/>
              </a:lnSpc>
            </a:pPr>
            <a:r>
              <a:t>✓ 발급국 인증 — CSCA → DSC Trust Chain 검증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0000" y="3564000"/>
            <a:ext cx="432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0F172A"/>
                </a:solidFill>
                <a:latin typeface="Malgun Gothic"/>
              </a:defRPr>
              <a:lnSpc>
                <a:spcPct val="120000"/>
              </a:lnSpc>
            </a:pPr>
            <a:r>
              <a:t>✓ 인증서 유효성 — CRL 기반 폐기 여부 확인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0000" y="3816000"/>
            <a:ext cx="432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0F172A"/>
                </a:solidFill>
                <a:latin typeface="Malgun Gothic"/>
              </a:defRPr>
              <a:lnSpc>
                <a:spcPct val="120000"/>
              </a:lnSpc>
            </a:pPr>
            <a:r>
              <a:t>✓ DG 해시 무결성 — 사진(DG2)·MRZ(DG1) 등 원본 보장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40000" y="1440000"/>
            <a:ext cx="432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F172A"/>
                </a:solidFill>
                <a:latin typeface="Malgun Gothic"/>
              </a:defRPr>
              <a:lnSpc>
                <a:spcPct val="120000"/>
              </a:lnSpc>
            </a:pPr>
            <a:r>
              <a:t>PA 검증 프로세스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40000" y="1728000"/>
            <a:ext cx="900000" cy="2880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 b="1">
                <a:solidFill>
                  <a:srgbClr val="FFFFFF"/>
                </a:solidFill>
                <a:latin typeface="Malgun Gothic"/>
              </a:defRPr>
            </a:pPr>
            <a:r>
              <a:t>Step 1-2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20000" y="1764000"/>
            <a:ext cx="306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F172A"/>
                </a:solidFill>
                <a:latin typeface="Malgun Gothic"/>
              </a:defRPr>
              <a:lnSpc>
                <a:spcPct val="120000"/>
              </a:lnSpc>
            </a:pPr>
            <a:r>
              <a:t>SOD 서명 검증 + DSC 조회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040000" y="2196000"/>
            <a:ext cx="900000" cy="2880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 b="1">
                <a:solidFill>
                  <a:srgbClr val="FFFFFF"/>
                </a:solidFill>
                <a:latin typeface="Malgun Gothic"/>
              </a:defRPr>
            </a:pPr>
            <a:r>
              <a:t>Step 3-4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20000" y="2232000"/>
            <a:ext cx="306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F172A"/>
                </a:solidFill>
                <a:latin typeface="Malgun Gothic"/>
              </a:defRPr>
              <a:lnSpc>
                <a:spcPct val="120000"/>
              </a:lnSpc>
            </a:pPr>
            <a:r>
              <a:t>CSCA 조회 + Trust Chain 검증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40000" y="2664000"/>
            <a:ext cx="900000" cy="28800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 b="1">
                <a:solidFill>
                  <a:srgbClr val="FFFFFF"/>
                </a:solidFill>
                <a:latin typeface="Malgun Gothic"/>
              </a:defRPr>
            </a:pPr>
            <a:r>
              <a:t>Step 5-7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20000" y="2700000"/>
            <a:ext cx="306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F172A"/>
                </a:solidFill>
                <a:latin typeface="Malgun Gothic"/>
              </a:defRPr>
              <a:lnSpc>
                <a:spcPct val="120000"/>
              </a:lnSpc>
            </a:pPr>
            <a:r>
              <a:t>SOD 해시 추출 + DG 해시 비교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040000" y="3131999"/>
            <a:ext cx="900000" cy="28800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 b="1">
                <a:solidFill>
                  <a:srgbClr val="FFFFFF"/>
                </a:solidFill>
                <a:latin typeface="Malgun Gothic"/>
              </a:defRPr>
            </a:pPr>
            <a:r>
              <a:t>Step 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20000" y="3167999"/>
            <a:ext cx="306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0F172A"/>
                </a:solidFill>
                <a:latin typeface="Malgun Gothic"/>
              </a:defRPr>
              <a:lnSpc>
                <a:spcPct val="120000"/>
              </a:lnSpc>
            </a:pPr>
            <a:r>
              <a:t>CRL 폐기 여부 확인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040000" y="3780000"/>
            <a:ext cx="1260000" cy="72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148000" y="3888000"/>
            <a:ext cx="1044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059669"/>
                </a:solidFill>
                <a:latin typeface="Malgun Gothic"/>
              </a:defRPr>
              <a:lnSpc>
                <a:spcPct val="120000"/>
              </a:lnSpc>
            </a:pPr>
            <a:r>
              <a:t>99.9%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148000" y="4320000"/>
            <a:ext cx="1044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64748B"/>
                </a:solidFill>
                <a:latin typeface="Malgun Gothic"/>
              </a:defRPr>
              <a:lnSpc>
                <a:spcPct val="120000"/>
              </a:lnSpc>
            </a:pPr>
            <a:r>
              <a:t>검증 정확도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80000" y="3780000"/>
            <a:ext cx="1260000" cy="72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588000" y="3888000"/>
            <a:ext cx="1044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02385E"/>
                </a:solidFill>
                <a:latin typeface="Malgun Gothic"/>
              </a:defRPr>
              <a:lnSpc>
                <a:spcPct val="120000"/>
              </a:lnSpc>
            </a:pPr>
            <a:r>
              <a:t>100-300ms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88000" y="4320000"/>
            <a:ext cx="1044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64748B"/>
                </a:solidFill>
                <a:latin typeface="Malgun Gothic"/>
              </a:defRPr>
              <a:lnSpc>
                <a:spcPct val="120000"/>
              </a:lnSpc>
            </a:pPr>
            <a:r>
              <a:t>처리 시간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7920000" y="3780000"/>
            <a:ext cx="1260000" cy="72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028000" y="3888000"/>
            <a:ext cx="1044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2563EB"/>
                </a:solidFill>
                <a:latin typeface="Malgun Gothic"/>
              </a:defRPr>
              <a:lnSpc>
                <a:spcPct val="120000"/>
              </a:lnSpc>
            </a:pPr>
            <a:r>
              <a:t>8단계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28000" y="4320000"/>
            <a:ext cx="1044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64748B"/>
                </a:solidFill>
                <a:latin typeface="Malgun Gothic"/>
              </a:defRPr>
              <a:lnSpc>
                <a:spcPct val="120000"/>
              </a:lnSpc>
            </a:pPr>
            <a:r>
              <a:t>자동 검증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11D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80000" y="2160000"/>
            <a:ext cx="72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94A3B8"/>
                </a:solidFill>
                <a:latin typeface="Malgun Gothic"/>
              </a:defRPr>
              <a:lnSpc>
                <a:spcPct val="120000"/>
              </a:lnSpc>
            </a:pPr>
            <a:r>
              <a:t>Part 2</a:t>
            </a:r>
          </a:p>
        </p:txBody>
      </p:sp>
      <p:sp>
        <p:nvSpPr>
          <p:cNvPr id="3" name="Rectangle 2"/>
          <p:cNvSpPr/>
          <p:nvPr/>
        </p:nvSpPr>
        <p:spPr>
          <a:xfrm>
            <a:off x="1080000" y="2592000"/>
            <a:ext cx="2160000" cy="288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80000" y="2700000"/>
            <a:ext cx="72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FFFFF"/>
                </a:solidFill>
                <a:latin typeface="Malgun Gothic"/>
              </a:defRPr>
              <a:lnSpc>
                <a:spcPct val="120000"/>
              </a:lnSpc>
            </a:pPr>
            <a:r>
              <a:t>기술 방안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0000" y="3600000"/>
            <a:ext cx="79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4748B"/>
                </a:solidFill>
                <a:latin typeface="Malgun Gothic"/>
              </a:defRPr>
              <a:lnSpc>
                <a:spcPct val="120000"/>
              </a:lnSpc>
            </a:pPr>
            <a:r>
              <a:t>마이크로서비스 아키텍처 · ICAO Doc 9303 등 관련 국제 표준 준수 · 컨테이너 기반 배포 · HA 이중화 구성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80000" y="3420000"/>
            <a:ext cx="72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60A5FA"/>
                </a:solidFill>
                <a:latin typeface="Malgun Gothic"/>
              </a:defRPr>
              <a:lnSpc>
                <a:spcPct val="120000"/>
              </a:lnSpc>
            </a:pPr>
            <a:r>
              <a:t>FASTpass® SPKD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93400" cy="54000"/>
          </a:xfrm>
          <a:prstGeom prst="rect">
            <a:avLst/>
          </a:prstGeom>
          <a:solidFill>
            <a:srgbClr val="0238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0000" y="432000"/>
            <a:ext cx="1980000" cy="251999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  <a:latin typeface="Malgun Gothic"/>
              </a:defRPr>
            </a:pPr>
            <a:r>
              <a:t>Part 2 — 시스템 설계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756000"/>
            <a:ext cx="864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F172A"/>
                </a:solidFill>
                <a:latin typeface="Malgun Gothic"/>
              </a:defRPr>
              <a:lnSpc>
                <a:spcPct val="120000"/>
              </a:lnSpc>
            </a:pPr>
            <a:r>
              <a:t>시스템 아키텍처</a:t>
            </a:r>
          </a:p>
        </p:txBody>
      </p:sp>
      <p:sp>
        <p:nvSpPr>
          <p:cNvPr id="5" name="Rectangle 4"/>
          <p:cNvSpPr/>
          <p:nvPr/>
        </p:nvSpPr>
        <p:spPr>
          <a:xfrm>
            <a:off x="540000" y="1188000"/>
            <a:ext cx="1440000" cy="28800"/>
          </a:xfrm>
          <a:prstGeom prst="rect">
            <a:avLst/>
          </a:prstGeom>
          <a:solidFill>
            <a:srgbClr val="0238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7273263"/>
            <a:ext cx="10693400" cy="28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0000" y="7309264"/>
            <a:ext cx="36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64748B"/>
                </a:solidFill>
                <a:latin typeface="Malgun Gothic"/>
              </a:defRPr>
              <a:lnSpc>
                <a:spcPct val="120000"/>
              </a:lnSpc>
            </a:pPr>
            <a:r>
              <a:t>FASTpass® SPKD — 전자여권 위·변조 검사 시스템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00000" y="7309264"/>
            <a:ext cx="216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64748B"/>
                </a:solidFill>
                <a:latin typeface="Malgun Gothic"/>
              </a:defRPr>
              <a:lnSpc>
                <a:spcPct val="120000"/>
              </a:lnSpc>
            </a:pPr>
            <a:r>
              <a:t>© 2026 SMARTCORE Inc.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0000" y="1368000"/>
            <a:ext cx="432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F172A"/>
                </a:solidFill>
                <a:latin typeface="Malgun Gothic"/>
              </a:defRPr>
              <a:lnSpc>
                <a:spcPct val="120000"/>
              </a:lnSpc>
            </a:pPr>
            <a:r>
              <a:t>4개 독립 마이크로서비스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0000" y="1728000"/>
            <a:ext cx="720000" cy="3240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  <a:latin typeface="Malgun Gothic"/>
              </a:defRPr>
            </a:pPr>
            <a:r>
              <a:t>PKD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40000" y="1728000"/>
            <a:ext cx="324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F172A"/>
                </a:solidFill>
                <a:latin typeface="Malgun Gothic"/>
              </a:defRPr>
              <a:lnSpc>
                <a:spcPct val="120000"/>
              </a:lnSpc>
            </a:pPr>
            <a:r>
              <a:t>PKD Management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40000" y="1908000"/>
            <a:ext cx="324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4748B"/>
                </a:solidFill>
                <a:latin typeface="Malgun Gothic"/>
              </a:defRPr>
              <a:lnSpc>
                <a:spcPct val="120000"/>
              </a:lnSpc>
            </a:pPr>
            <a:r>
              <a:t>인증서 업로드·파싱·검증·관리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0000" y="2376000"/>
            <a:ext cx="720000" cy="32400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  <a:latin typeface="Malgun Gothic"/>
              </a:defRPr>
            </a:pPr>
            <a:r>
              <a:t>PA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40000" y="2376000"/>
            <a:ext cx="324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F172A"/>
                </a:solidFill>
                <a:latin typeface="Malgun Gothic"/>
              </a:defRPr>
              <a:lnSpc>
                <a:spcPct val="120000"/>
              </a:lnSpc>
            </a:pPr>
            <a:r>
              <a:t>PA Service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40000" y="2556000"/>
            <a:ext cx="324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4748B"/>
                </a:solidFill>
                <a:latin typeface="Malgun Gothic"/>
              </a:defRPr>
              <a:lnSpc>
                <a:spcPct val="120000"/>
              </a:lnSpc>
            </a:pPr>
            <a:r>
              <a:t>ICAO 9303 8단계 위·변조 검증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0000" y="3024000"/>
            <a:ext cx="720000" cy="32400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  <a:latin typeface="Malgun Gothic"/>
              </a:defRPr>
            </a:pPr>
            <a:r>
              <a:t>Sync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40000" y="3024000"/>
            <a:ext cx="324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F172A"/>
                </a:solidFill>
                <a:latin typeface="Malgun Gothic"/>
              </a:defRPr>
              <a:lnSpc>
                <a:spcPct val="120000"/>
              </a:lnSpc>
            </a:pPr>
            <a:r>
              <a:t>PKD Relay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40000" y="3204000"/>
            <a:ext cx="324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4748B"/>
                </a:solidFill>
                <a:latin typeface="Malgun Gothic"/>
              </a:defRPr>
              <a:lnSpc>
                <a:spcPct val="120000"/>
              </a:lnSpc>
            </a:pPr>
            <a:r>
              <a:t>DB↔LDAP 자동 동기화·조정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0000" y="3671999"/>
            <a:ext cx="720000" cy="32400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  <a:latin typeface="Malgun Gothic"/>
              </a:defRPr>
            </a:pPr>
            <a:r>
              <a:t>Mon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40000" y="3671999"/>
            <a:ext cx="324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F172A"/>
                </a:solidFill>
                <a:latin typeface="Malgun Gothic"/>
              </a:defRPr>
              <a:lnSpc>
                <a:spcPct val="120000"/>
              </a:lnSpc>
            </a:pPr>
            <a:r>
              <a:t>Monitoring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40000" y="3851999"/>
            <a:ext cx="324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4748B"/>
                </a:solidFill>
                <a:latin typeface="Malgun Gothic"/>
              </a:defRPr>
              <a:lnSpc>
                <a:spcPct val="120000"/>
              </a:lnSpc>
            </a:pPr>
            <a:r>
              <a:t>시스템 메트릭·서비스 헬스체크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40000" y="1368000"/>
            <a:ext cx="432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F172A"/>
                </a:solidFill>
                <a:latin typeface="Malgun Gothic"/>
              </a:defRPr>
              <a:lnSpc>
                <a:spcPct val="120000"/>
              </a:lnSpc>
            </a:pPr>
            <a:r>
              <a:t>기술 스택</a:t>
            </a:r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5040000" y="1728000"/>
          <a:ext cx="4140000" cy="2015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0000"/>
                <a:gridCol w="2700000"/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구분</a:t>
                      </a:r>
                    </a:p>
                  </a:txBody>
                  <a:tcPr anchor="ctr">
                    <a:solidFill>
                      <a:srgbClr val="0238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기술</a:t>
                      </a:r>
                    </a:p>
                  </a:txBody>
                  <a:tcPr anchor="ctr">
                    <a:solidFill>
                      <a:srgbClr val="02385E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Backend</a:t>
                      </a:r>
                    </a:p>
                  </a:txBody>
                  <a:tcPr anchor="ctr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C++20 / Drogon Framework</a:t>
                      </a:r>
                    </a:p>
                  </a:txBody>
                  <a:tcPr anchor="ctr"/>
                </a:tc>
              </a:tr>
              <a:tr h="251999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Frontend</a:t>
                      </a:r>
                    </a:p>
                  </a:txBody>
                  <a:tcPr anchor="ctr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React 19 / TypeScript / Tailwind CSS</a:t>
                      </a:r>
                    </a:p>
                  </a:txBody>
                  <a:tcPr anchor="ctr"/>
                </a:tc>
              </a:tr>
              <a:tr h="251999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Database</a:t>
                      </a:r>
                    </a:p>
                  </a:txBody>
                  <a:tcPr anchor="ctr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Oracle RDBMS</a:t>
                      </a:r>
                    </a:p>
                  </a:txBody>
                  <a:tcPr anchor="ctr"/>
                </a:tc>
              </a:tr>
              <a:tr h="251999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Directory</a:t>
                      </a:r>
                    </a:p>
                  </a:txBody>
                  <a:tcPr anchor="ctr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OpenLDAP (MMR 이중화)</a:t>
                      </a:r>
                    </a:p>
                  </a:txBody>
                  <a:tcPr anchor="ctr"/>
                </a:tc>
              </a:tr>
              <a:tr h="251999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Gateway</a:t>
                      </a:r>
                    </a:p>
                  </a:txBody>
                  <a:tcPr anchor="ctr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nginx (SSL/TLS, Rate Limiting)</a:t>
                      </a:r>
                    </a:p>
                  </a:txBody>
                  <a:tcPr anchor="ctr"/>
                </a:tc>
              </a:tr>
              <a:tr h="251999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Container</a:t>
                      </a:r>
                    </a:p>
                  </a:txBody>
                  <a:tcPr anchor="ctr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Docker / Podman (RHEL 9)</a:t>
                      </a:r>
                    </a:p>
                  </a:txBody>
                  <a:tcPr anchor="ctr"/>
                </a:tc>
              </a:tr>
              <a:tr h="252006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암호 라이브러리</a:t>
                      </a:r>
                    </a:p>
                  </a:txBody>
                  <a:tcPr anchor="ctr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OpenSSL 3.x (FIPS 지원)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93400" cy="54000"/>
          </a:xfrm>
          <a:prstGeom prst="rect">
            <a:avLst/>
          </a:prstGeom>
          <a:solidFill>
            <a:srgbClr val="0238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0000" y="432000"/>
            <a:ext cx="1980000" cy="251999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  <a:latin typeface="Malgun Gothic"/>
              </a:defRPr>
            </a:pPr>
            <a:r>
              <a:t>Part 2 — 시스템 설계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756000"/>
            <a:ext cx="864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F172A"/>
                </a:solidFill>
                <a:latin typeface="Malgun Gothic"/>
              </a:defRPr>
              <a:lnSpc>
                <a:spcPct val="120000"/>
              </a:lnSpc>
            </a:pPr>
            <a:r>
              <a:t>소프트웨어 아키텍처 구성도</a:t>
            </a:r>
          </a:p>
        </p:txBody>
      </p:sp>
      <p:sp>
        <p:nvSpPr>
          <p:cNvPr id="5" name="Rectangle 4"/>
          <p:cNvSpPr/>
          <p:nvPr/>
        </p:nvSpPr>
        <p:spPr>
          <a:xfrm>
            <a:off x="540000" y="1188000"/>
            <a:ext cx="1440000" cy="28800"/>
          </a:xfrm>
          <a:prstGeom prst="rect">
            <a:avLst/>
          </a:prstGeom>
          <a:solidFill>
            <a:srgbClr val="0238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7273263"/>
            <a:ext cx="10693400" cy="28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0000" y="7309264"/>
            <a:ext cx="36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64748B"/>
                </a:solidFill>
                <a:latin typeface="Malgun Gothic"/>
              </a:defRPr>
              <a:lnSpc>
                <a:spcPct val="120000"/>
              </a:lnSpc>
            </a:pPr>
            <a:r>
              <a:t>FASTpass® SPKD — 전자여권 위·변조 검사 시스템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00000" y="7309264"/>
            <a:ext cx="216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64748B"/>
                </a:solidFill>
                <a:latin typeface="Malgun Gothic"/>
              </a:defRPr>
              <a:lnSpc>
                <a:spcPct val="120000"/>
              </a:lnSpc>
            </a:pPr>
            <a:r>
              <a:t>© 2026 SMARTCORE Inc.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0000" y="1368000"/>
          <a:ext cx="8640000" cy="32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60000"/>
                <a:gridCol w="6480000"/>
              </a:tblGrid>
              <a:tr h="3240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계층</a:t>
                      </a:r>
                    </a:p>
                  </a:txBody>
                  <a:tcPr anchor="ctr">
                    <a:solidFill>
                      <a:srgbClr val="0238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구성 요소</a:t>
                      </a:r>
                    </a:p>
                  </a:txBody>
                  <a:tcPr anchor="ctr">
                    <a:solidFill>
                      <a:srgbClr val="02385E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프론트엔드</a:t>
                      </a:r>
                    </a:p>
                  </a:txBody>
                  <a:tcPr anchor="ctr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React 19 / TypeScript / Tailwind CSS / Vite (27개 페이지)</a:t>
                      </a:r>
                    </a:p>
                  </a:txBody>
                  <a:tcPr anchor="ctr">
                    <a:solidFill>
                      <a:srgbClr val="EFF6FF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API Gateway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nginx — SSL/TLS 종단, Rate Limiting, 로드 밸런싱, CSP 헤더, auth_request</a:t>
                      </a:r>
                    </a:p>
                  </a:txBody>
                  <a:tcPr anchor="ctr"/>
                </a:tc>
              </a:tr>
              <a:tr h="324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PKD Management :8081</a:t>
                      </a:r>
                    </a:p>
                  </a:txBody>
                  <a:tcPr anchor="ctr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인증서 업로드·파싱 / Trust Chain 검증 / ICAO 9303 준수 검사 / CSR 관리 / API Client 인증</a:t>
                      </a:r>
                    </a:p>
                  </a:txBody>
                  <a:tcPr anchor="ctr">
                    <a:solidFill>
                      <a:srgbClr val="EFF6FF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PA Service :8082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SOD 서명 검증 / DSC→CSCA 체인 / DG 해시 비교 / CRL 폐기 확인 / DSC 자동 등록</a:t>
                      </a:r>
                    </a:p>
                  </a:txBody>
                  <a:tcPr anchor="ctr"/>
                </a:tc>
              </a:tr>
              <a:tr h="324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PKD Relay :8083</a:t>
                      </a:r>
                    </a:p>
                  </a:txBody>
                  <a:tcPr anchor="ctr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DB↔LDAP 동기화 / 자동 Reconciliation / DSC 재검증 / SSE 실시간 알림</a:t>
                      </a:r>
                    </a:p>
                  </a:txBody>
                  <a:tcPr anchor="ctr">
                    <a:solidFill>
                      <a:srgbClr val="EFF6FF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Monitoring :8084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서비스 헬스체크 / 시스템 메트릭 / 접속자 현황 / 실시간 알림</a:t>
                      </a:r>
                    </a:p>
                  </a:txBody>
                  <a:tcPr anchor="ctr"/>
                </a:tc>
              </a:tr>
              <a:tr h="324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Oracle RDBMS</a:t>
                      </a:r>
                    </a:p>
                  </a:txBody>
                  <a:tcPr anchor="ctr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IQueryExecutor 패턴 · Repository Pattern · certificate · validation_result · audit_log</a:t>
                      </a:r>
                    </a:p>
                  </a:txBody>
                  <a:tcPr anchor="ctr">
                    <a:solidFill>
                      <a:srgbClr val="EFF6FF"/>
                    </a:solidFill>
                  </a:tcPr>
                </a:tc>
              </a:tr>
              <a:tr h="324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LDAP (OpenLDAP MMR)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Primary + Replica 이중화 · dc=data (CSCA/DSC/CRL/ML) · dc=nc-data (DSC_NC)</a:t>
                      </a:r>
                    </a:p>
                  </a:txBody>
                  <a:tcPr anchor="ctr"/>
                </a:tc>
              </a:tr>
              <a:tr h="324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외부 연계</a:t>
                      </a:r>
                    </a:p>
                  </a:txBody>
                  <a:tcPr anchor="ctr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ICRM 심사 PC (1,500대) / 연계기관 (REST API) / ICAO PKD (CSR+LDAP/REST) / 외교부</a:t>
                      </a:r>
                    </a:p>
                  </a:txBody>
                  <a:tcPr anchor="ctr">
                    <a:solidFill>
                      <a:srgbClr val="EFF6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40000" y="4752000"/>
            <a:ext cx="864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64748B"/>
                </a:solidFill>
                <a:latin typeface="Malgun Gothic"/>
              </a:defRPr>
              <a:lnSpc>
                <a:spcPct val="120000"/>
              </a:lnSpc>
            </a:pPr>
            <a:r>
              <a:t>Repository Pattern · Query Executor (IQueryExecutor) · Service Container (DI) · Handler Pattern · RAII · Factory Pattern · SSE · Docker/Podman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93400" cy="54000"/>
          </a:xfrm>
          <a:prstGeom prst="rect">
            <a:avLst/>
          </a:prstGeom>
          <a:solidFill>
            <a:srgbClr val="0238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0000" y="432000"/>
            <a:ext cx="1980000" cy="251999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  <a:latin typeface="Malgun Gothic"/>
              </a:defRPr>
            </a:pPr>
            <a:r>
              <a:t>Part 2 — 시스템 설계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756000"/>
            <a:ext cx="864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F172A"/>
                </a:solidFill>
                <a:latin typeface="Malgun Gothic"/>
              </a:defRPr>
              <a:lnSpc>
                <a:spcPct val="120000"/>
              </a:lnSpc>
            </a:pPr>
            <a:r>
              <a:t>H/W 네트워크 구성도 (HA 이중화)</a:t>
            </a:r>
          </a:p>
        </p:txBody>
      </p:sp>
      <p:sp>
        <p:nvSpPr>
          <p:cNvPr id="5" name="Rectangle 4"/>
          <p:cNvSpPr/>
          <p:nvPr/>
        </p:nvSpPr>
        <p:spPr>
          <a:xfrm>
            <a:off x="540000" y="1188000"/>
            <a:ext cx="1440000" cy="28800"/>
          </a:xfrm>
          <a:prstGeom prst="rect">
            <a:avLst/>
          </a:prstGeom>
          <a:solidFill>
            <a:srgbClr val="0238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7273263"/>
            <a:ext cx="10693400" cy="28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0000" y="7309264"/>
            <a:ext cx="36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64748B"/>
                </a:solidFill>
                <a:latin typeface="Malgun Gothic"/>
              </a:defRPr>
              <a:lnSpc>
                <a:spcPct val="120000"/>
              </a:lnSpc>
            </a:pPr>
            <a:r>
              <a:t>FASTpass® SPKD — 전자여권 위·변조 검사 시스템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00000" y="7309264"/>
            <a:ext cx="216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64748B"/>
                </a:solidFill>
                <a:latin typeface="Malgun Gothic"/>
              </a:defRPr>
              <a:lnSpc>
                <a:spcPct val="120000"/>
              </a:lnSpc>
            </a:pPr>
            <a:r>
              <a:t>© 2026 SMARTCORE Inc.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0000" y="1440000"/>
            <a:ext cx="8640000" cy="169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0000" y="1476000"/>
            <a:ext cx="144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2563EB"/>
                </a:solidFill>
                <a:latin typeface="Malgun Gothic"/>
              </a:defRPr>
              <a:lnSpc>
                <a:spcPct val="120000"/>
              </a:lnSpc>
            </a:pPr>
            <a:r>
              <a:t>내부망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00000" y="1476000"/>
            <a:ext cx="684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0F172A"/>
                </a:solidFill>
                <a:latin typeface="Malgun Gothic"/>
              </a:defRPr>
              <a:lnSpc>
                <a:spcPct val="120000"/>
              </a:lnSpc>
            </a:pPr>
            <a:r>
              <a:t>• 관리서버 x1 — API Gateway, 모니터링, UI (16Core/32GB)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00000" y="1710000"/>
            <a:ext cx="684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0F172A"/>
                </a:solidFill>
                <a:latin typeface="Malgun Gothic"/>
              </a:defRPr>
              <a:lnSpc>
                <a:spcPct val="120000"/>
              </a:lnSpc>
            </a:pPr>
            <a:r>
              <a:t>• PKD서버 #1 Active — PA, PKD 관리, LDAP Primary (16Core/32GB)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00000" y="1944000"/>
            <a:ext cx="684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0F172A"/>
                </a:solidFill>
                <a:latin typeface="Malgun Gothic"/>
              </a:defRPr>
              <a:lnSpc>
                <a:spcPct val="120000"/>
              </a:lnSpc>
            </a:pPr>
            <a:r>
              <a:t>• PKD서버 #2 Active — PA, PKD 관리, LDAP Replica (16Core/32GB)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00000" y="2178000"/>
            <a:ext cx="684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0F172A"/>
                </a:solidFill>
                <a:latin typeface="Malgun Gothic"/>
              </a:defRPr>
              <a:lnSpc>
                <a:spcPct val="120000"/>
              </a:lnSpc>
            </a:pPr>
            <a:r>
              <a:t>• SAN 스위치 #1/#2 — 32Gb FC, Fabric A/B 이중화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00000" y="2412000"/>
            <a:ext cx="684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0F172A"/>
                </a:solidFill>
                <a:latin typeface="Malgun Gothic"/>
              </a:defRPr>
              <a:lnSpc>
                <a:spcPct val="120000"/>
              </a:lnSpc>
            </a:pPr>
            <a:r>
              <a:t>• 스토리지 — NVMe 7.68TB×28EA, 150.42TiB, RaidB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00000" y="2646000"/>
            <a:ext cx="684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0F172A"/>
                </a:solidFill>
                <a:latin typeface="Malgun Gothic"/>
              </a:defRPr>
              <a:lnSpc>
                <a:spcPct val="120000"/>
              </a:lnSpc>
            </a:pPr>
            <a:r>
              <a:t>• Oracle RDBMS + LDAP 이중화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0000" y="3276000"/>
            <a:ext cx="8640000" cy="99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0000" y="3312000"/>
            <a:ext cx="144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D97706"/>
                </a:solidFill>
                <a:latin typeface="Malgun Gothic"/>
              </a:defRPr>
              <a:lnSpc>
                <a:spcPct val="120000"/>
              </a:lnSpc>
            </a:pPr>
            <a:r>
              <a:t>DMZ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00000" y="3312000"/>
            <a:ext cx="684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0F172A"/>
                </a:solidFill>
                <a:latin typeface="Malgun Gothic"/>
              </a:defRPr>
              <a:lnSpc>
                <a:spcPct val="120000"/>
              </a:lnSpc>
            </a:pPr>
            <a:r>
              <a:t>• 중계서버 #1 Active — ICAO PKD 연계 (CSR+LDAP/REST)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800000" y="3546000"/>
            <a:ext cx="684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0F172A"/>
                </a:solidFill>
                <a:latin typeface="Malgun Gothic"/>
              </a:defRPr>
              <a:lnSpc>
                <a:spcPct val="120000"/>
              </a:lnSpc>
            </a:pPr>
            <a:r>
              <a:t>• 중계서버 #2 Standby — ICAO PKD 연계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00000" y="3780000"/>
            <a:ext cx="684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0F172A"/>
                </a:solidFill>
                <a:latin typeface="Malgun Gothic"/>
              </a:defRPr>
              <a:lnSpc>
                <a:spcPct val="120000"/>
              </a:lnSpc>
            </a:pPr>
            <a:r>
              <a:t>• Active-Standby 이중화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0000" y="4410000"/>
            <a:ext cx="8640000" cy="756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0000" y="4446000"/>
            <a:ext cx="144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7C3AED"/>
                </a:solidFill>
                <a:latin typeface="Malgun Gothic"/>
              </a:defRPr>
              <a:lnSpc>
                <a:spcPct val="120000"/>
              </a:lnSpc>
            </a:pPr>
            <a:r>
              <a:t>외부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00000" y="4446000"/>
            <a:ext cx="684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0F172A"/>
                </a:solidFill>
                <a:latin typeface="Malgun Gothic"/>
              </a:defRPr>
              <a:lnSpc>
                <a:spcPct val="120000"/>
              </a:lnSpc>
            </a:pPr>
            <a:r>
              <a:t>• ICAO PKD — CSCA/DSC/CRL/DL/NC-DATA (CSR+LDAP/REST)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800000" y="4680000"/>
            <a:ext cx="684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0F172A"/>
                </a:solidFill>
                <a:latin typeface="Malgun Gothic"/>
              </a:defRPr>
              <a:lnSpc>
                <a:spcPct val="120000"/>
              </a:lnSpc>
            </a:pPr>
            <a:r>
              <a:t>• 외교부 — 양자 협정 경로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93400" cy="54000"/>
          </a:xfrm>
          <a:prstGeom prst="rect">
            <a:avLst/>
          </a:prstGeom>
          <a:solidFill>
            <a:srgbClr val="0238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0000" y="432000"/>
            <a:ext cx="1980000" cy="251999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  <a:latin typeface="Malgun Gothic"/>
              </a:defRPr>
            </a:pPr>
            <a:r>
              <a:t>Part 2 — 장비 구성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756000"/>
            <a:ext cx="864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F172A"/>
                </a:solidFill>
                <a:latin typeface="Malgun Gothic"/>
              </a:defRPr>
              <a:lnSpc>
                <a:spcPct val="120000"/>
              </a:lnSpc>
            </a:pPr>
            <a:r>
              <a:t>도입 H/W 사양 및 수량</a:t>
            </a:r>
          </a:p>
        </p:txBody>
      </p:sp>
      <p:sp>
        <p:nvSpPr>
          <p:cNvPr id="5" name="Rectangle 4"/>
          <p:cNvSpPr/>
          <p:nvPr/>
        </p:nvSpPr>
        <p:spPr>
          <a:xfrm>
            <a:off x="540000" y="1188000"/>
            <a:ext cx="1440000" cy="28800"/>
          </a:xfrm>
          <a:prstGeom prst="rect">
            <a:avLst/>
          </a:prstGeom>
          <a:solidFill>
            <a:srgbClr val="0238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7273263"/>
            <a:ext cx="10693400" cy="28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0000" y="7309264"/>
            <a:ext cx="36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64748B"/>
                </a:solidFill>
                <a:latin typeface="Malgun Gothic"/>
              </a:defRPr>
              <a:lnSpc>
                <a:spcPct val="120000"/>
              </a:lnSpc>
            </a:pPr>
            <a:r>
              <a:t>FASTpass® SPKD — 전자여권 위·변조 검사 시스템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00000" y="7309264"/>
            <a:ext cx="216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64748B"/>
                </a:solidFill>
                <a:latin typeface="Malgun Gothic"/>
              </a:defRPr>
              <a:lnSpc>
                <a:spcPct val="120000"/>
              </a:lnSpc>
            </a:pPr>
            <a:r>
              <a:t>© 2026 SMARTCORE Inc.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0000" y="1440000"/>
          <a:ext cx="8640000" cy="23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0000"/>
                <a:gridCol w="4860000"/>
                <a:gridCol w="720000"/>
                <a:gridCol w="1800000"/>
              </a:tblGrid>
              <a:tr h="334285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품명</a:t>
                      </a:r>
                    </a:p>
                  </a:txBody>
                  <a:tcPr anchor="ctr">
                    <a:solidFill>
                      <a:srgbClr val="0238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세부 사양</a:t>
                      </a:r>
                    </a:p>
                  </a:txBody>
                  <a:tcPr anchor="ctr">
                    <a:solidFill>
                      <a:srgbClr val="0238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수량</a:t>
                      </a:r>
                    </a:p>
                  </a:txBody>
                  <a:tcPr anchor="ctr">
                    <a:solidFill>
                      <a:srgbClr val="0238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비고</a:t>
                      </a:r>
                    </a:p>
                  </a:txBody>
                  <a:tcPr anchor="ctr">
                    <a:solidFill>
                      <a:srgbClr val="02385E"/>
                    </a:solidFill>
                  </a:tcPr>
                </a:tc>
              </a:tr>
              <a:tr h="334285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중계서버</a:t>
                      </a:r>
                    </a:p>
                  </a:txBody>
                  <a:tcPr anchor="ctr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CPU 3.2GHz 16Core · Memory 32GB · DISK 960GB SSD ×2EA · NIC 10GbE 2Port · 이중화 · Windows</a:t>
                      </a:r>
                    </a:p>
                  </a:txBody>
                  <a:tcPr anchor="ctr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2식</a:t>
                      </a:r>
                    </a:p>
                  </a:txBody>
                  <a:tcPr anchor="ctr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DMZ · Active-Standby</a:t>
                      </a:r>
                    </a:p>
                  </a:txBody>
                  <a:tcPr anchor="ctr">
                    <a:solidFill>
                      <a:srgbClr val="EFF6FF"/>
                    </a:solidFill>
                  </a:tcPr>
                </a:tc>
              </a:tr>
              <a:tr h="334285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PKD서버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CPU 3.2GHz 16Core · Memory 32GB · DISK 960GB SSD ×2EA · NIC 10GbE 2Port · 이중화 · Windows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2식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서비스 · Active-Active</a:t>
                      </a:r>
                    </a:p>
                  </a:txBody>
                  <a:tcPr anchor="ctr"/>
                </a:tc>
              </a:tr>
              <a:tr h="334285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관리서버</a:t>
                      </a:r>
                    </a:p>
                  </a:txBody>
                  <a:tcPr anchor="ctr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CPU 3.2GHz 16Core · Memory 32GB · DISK 960GB SSD ×2EA · NIC 10GbE 2Port · Windows</a:t>
                      </a:r>
                    </a:p>
                  </a:txBody>
                  <a:tcPr anchor="ctr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1식</a:t>
                      </a:r>
                    </a:p>
                  </a:txBody>
                  <a:tcPr anchor="ctr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API Gateway · 관리 UI</a:t>
                      </a:r>
                    </a:p>
                  </a:txBody>
                  <a:tcPr anchor="ctr">
                    <a:solidFill>
                      <a:srgbClr val="EFF6FF"/>
                    </a:solidFill>
                  </a:tcPr>
                </a:tc>
              </a:tr>
              <a:tr h="334285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스토리지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NVMe SSD 7.68TB ×28EA · Usable 150.42TiB · RaidB · 32G 4p HBA ×4ea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1식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SAN 공유 스토리지</a:t>
                      </a:r>
                    </a:p>
                  </a:txBody>
                  <a:tcPr anchor="ctr"/>
                </a:tc>
              </a:tr>
              <a:tr h="334285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SAN 스위치</a:t>
                      </a:r>
                    </a:p>
                  </a:txBody>
                  <a:tcPr anchor="ctr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24port 32Gb FC Switch</a:t>
                      </a:r>
                    </a:p>
                  </a:txBody>
                  <a:tcPr anchor="ctr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2식</a:t>
                      </a:r>
                    </a:p>
                  </a:txBody>
                  <a:tcPr anchor="ctr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Fabric A/B 이중화</a:t>
                      </a:r>
                    </a:p>
                  </a:txBody>
                  <a:tcPr anchor="ctr">
                    <a:solidFill>
                      <a:srgbClr val="EFF6FF"/>
                    </a:solidFill>
                  </a:tcPr>
                </a:tc>
              </a:tr>
              <a:tr h="33429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랙 및 KVM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Deep Rack · 16port KVM 지원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2식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93400" cy="54000"/>
          </a:xfrm>
          <a:prstGeom prst="rect">
            <a:avLst/>
          </a:prstGeom>
          <a:solidFill>
            <a:srgbClr val="0238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0000" y="432000"/>
            <a:ext cx="1980000" cy="251999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  <a:latin typeface="Malgun Gothic"/>
              </a:defRPr>
            </a:pPr>
            <a:r>
              <a:t>Part 2 — 장비 구성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756000"/>
            <a:ext cx="864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F172A"/>
                </a:solidFill>
                <a:latin typeface="Malgun Gothic"/>
              </a:defRPr>
              <a:lnSpc>
                <a:spcPct val="120000"/>
              </a:lnSpc>
            </a:pPr>
            <a:r>
              <a:t>도입 S/W 사양 및 수량</a:t>
            </a:r>
          </a:p>
        </p:txBody>
      </p:sp>
      <p:sp>
        <p:nvSpPr>
          <p:cNvPr id="5" name="Rectangle 4"/>
          <p:cNvSpPr/>
          <p:nvPr/>
        </p:nvSpPr>
        <p:spPr>
          <a:xfrm>
            <a:off x="540000" y="1188000"/>
            <a:ext cx="1440000" cy="28800"/>
          </a:xfrm>
          <a:prstGeom prst="rect">
            <a:avLst/>
          </a:prstGeom>
          <a:solidFill>
            <a:srgbClr val="0238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7273263"/>
            <a:ext cx="10693400" cy="28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0000" y="7309264"/>
            <a:ext cx="36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64748B"/>
                </a:solidFill>
                <a:latin typeface="Malgun Gothic"/>
              </a:defRPr>
              <a:lnSpc>
                <a:spcPct val="120000"/>
              </a:lnSpc>
            </a:pPr>
            <a:r>
              <a:t>FASTpass® SPKD — 전자여권 위·변조 검사 시스템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00000" y="7309264"/>
            <a:ext cx="216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64748B"/>
                </a:solidFill>
                <a:latin typeface="Malgun Gothic"/>
              </a:defRPr>
              <a:lnSpc>
                <a:spcPct val="120000"/>
              </a:lnSpc>
            </a:pPr>
            <a:r>
              <a:t>© 2026 SMARTCORE Inc.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0000" y="1440000"/>
          <a:ext cx="8640000" cy="28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0000"/>
                <a:gridCol w="4500000"/>
                <a:gridCol w="720000"/>
                <a:gridCol w="1800000"/>
              </a:tblGrid>
              <a:tr h="261818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품명</a:t>
                      </a:r>
                    </a:p>
                  </a:txBody>
                  <a:tcPr anchor="ctr">
                    <a:solidFill>
                      <a:srgbClr val="0238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규격 및 기능</a:t>
                      </a:r>
                    </a:p>
                  </a:txBody>
                  <a:tcPr anchor="ctr">
                    <a:solidFill>
                      <a:srgbClr val="0238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수량</a:t>
                      </a:r>
                    </a:p>
                  </a:txBody>
                  <a:tcPr anchor="ctr">
                    <a:solidFill>
                      <a:srgbClr val="0238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설치 위치</a:t>
                      </a:r>
                    </a:p>
                  </a:txBody>
                  <a:tcPr anchor="ctr">
                    <a:solidFill>
                      <a:srgbClr val="02385E"/>
                    </a:solidFill>
                  </a:tcPr>
                </a:tc>
              </a:tr>
              <a:tr h="261818">
                <a:tc gridSpan="4">
                  <a:txBody>
                    <a:bodyPr/>
                    <a:lstStyle/>
                    <a:p>
                      <a:pPr algn="l">
                        <a:defRPr sz="700" b="1">
                          <a:solidFill>
                            <a:srgbClr val="64748B"/>
                          </a:solidFill>
                          <a:latin typeface="Malgun Gothic"/>
                        </a:defRPr>
                      </a:pPr>
                      <a:r>
                        <a:t>통합 발주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261818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PKD 중계 에이전트</a:t>
                      </a:r>
                    </a:p>
                  </a:txBody>
                  <a:tcPr anchor="ctr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ICAO PKD 서버 연계 · DS인증서/CRL 자동 다운로드 · CSR 기반 인증 · LDAP V3 + REST</a:t>
                      </a:r>
                    </a:p>
                  </a:txBody>
                  <a:tcPr anchor="ctr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2식</a:t>
                      </a:r>
                    </a:p>
                  </a:txBody>
                  <a:tcPr anchor="ctr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중계서버</a:t>
                      </a:r>
                    </a:p>
                  </a:txBody>
                  <a:tcPr anchor="ctr">
                    <a:solidFill>
                      <a:srgbClr val="EFF6FF"/>
                    </a:solidFill>
                  </a:tcPr>
                </a:tc>
              </a:tr>
              <a:tr h="261818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PKD Manager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PKI 기반 DS인증서/CRL 관리 · ICAO 규정 PA 인증 · 사용자/인증서 관리 · 통계 및 감시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1식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PKD서버</a:t>
                      </a:r>
                    </a:p>
                  </a:txBody>
                  <a:tcPr anchor="ctr"/>
                </a:tc>
              </a:tr>
              <a:tr h="261818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ICAO PKI Toolkit</a:t>
                      </a:r>
                    </a:p>
                  </a:txBody>
                  <a:tcPr anchor="ctr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전자여권 판독 기능 (단말별 라이선스 1,500대) · PA/BAC/AA 인증</a:t>
                      </a:r>
                    </a:p>
                  </a:txBody>
                  <a:tcPr anchor="ctr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1식</a:t>
                      </a:r>
                    </a:p>
                  </a:txBody>
                  <a:tcPr anchor="ctr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PKD서버 + 심사 단말</a:t>
                      </a:r>
                    </a:p>
                  </a:txBody>
                  <a:tcPr anchor="ctr">
                    <a:solidFill>
                      <a:srgbClr val="EFF6FF"/>
                    </a:solidFill>
                  </a:tcPr>
                </a:tc>
              </a:tr>
              <a:tr h="261818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LDAP Server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CSCA, DS, CRL 게시 · LDAP v2/v3 · UTF-8 (3,000 Entry)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2식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PKD서버 #1, #2</a:t>
                      </a:r>
                    </a:p>
                  </a:txBody>
                  <a:tcPr anchor="ctr"/>
                </a:tc>
              </a:tr>
              <a:tr h="261818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DBMS (Oracle)</a:t>
                      </a:r>
                    </a:p>
                  </a:txBody>
                  <a:tcPr anchor="ctr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8 Core (Named 200 Users) · Stored Procedure · XML</a:t>
                      </a:r>
                    </a:p>
                  </a:txBody>
                  <a:tcPr anchor="ctr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1식</a:t>
                      </a:r>
                    </a:p>
                  </a:txBody>
                  <a:tcPr anchor="ctr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스토리지 연결</a:t>
                      </a:r>
                    </a:p>
                  </a:txBody>
                  <a:tcPr anchor="ctr">
                    <a:solidFill>
                      <a:srgbClr val="EFF6FF"/>
                    </a:solidFill>
                  </a:tcPr>
                </a:tc>
              </a:tr>
              <a:tr h="261818">
                <a:tc gridSpan="4">
                  <a:txBody>
                    <a:bodyPr/>
                    <a:lstStyle/>
                    <a:p>
                      <a:pPr algn="l">
                        <a:defRPr sz="700" b="1">
                          <a:solidFill>
                            <a:srgbClr val="64748B"/>
                          </a:solidFill>
                          <a:latin typeface="Malgun Gothic"/>
                        </a:defRPr>
                      </a:pPr>
                      <a:r>
                        <a:t>상용 S/W 직접 구매</a:t>
                      </a: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</a:p>
                  </a:txBody>
                  <a:tcPr anchor="ctr">
                    <a:solidFill>
                      <a:srgbClr val="F1F5F9"/>
                    </a:solidFill>
                  </a:tcPr>
                </a:tc>
              </a:tr>
              <a:tr h="261818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서버보안</a:t>
                      </a:r>
                    </a:p>
                  </a:txBody>
                  <a:tcPr anchor="ctr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Secuve TOS V5.0 for Windows</a:t>
                      </a:r>
                    </a:p>
                  </a:txBody>
                  <a:tcPr anchor="ctr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5식</a:t>
                      </a:r>
                    </a:p>
                  </a:txBody>
                  <a:tcPr anchor="ctr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전체 서버</a:t>
                      </a:r>
                    </a:p>
                  </a:txBody>
                  <a:tcPr anchor="ctr">
                    <a:solidFill>
                      <a:srgbClr val="EFF6FF"/>
                    </a:solidFill>
                  </a:tcPr>
                </a:tc>
              </a:tr>
              <a:tr h="261818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모니터링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Sycros v3 Agent &amp; System Monitoring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5식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전체 서버</a:t>
                      </a:r>
                    </a:p>
                  </a:txBody>
                  <a:tcPr anchor="ctr"/>
                </a:tc>
              </a:tr>
              <a:tr h="261820"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DB 접근제어</a:t>
                      </a:r>
                    </a:p>
                  </a:txBody>
                  <a:tcPr anchor="ctr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Chakra MAX — 7~8 Core</a:t>
                      </a:r>
                    </a:p>
                  </a:txBody>
                  <a:tcPr anchor="ctr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1식</a:t>
                      </a:r>
                    </a:p>
                  </a:txBody>
                  <a:tcPr anchor="ctr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DB서버</a:t>
                      </a:r>
                    </a:p>
                  </a:txBody>
                  <a:tcPr anchor="ctr">
                    <a:solidFill>
                      <a:srgbClr val="EFF6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93400" cy="54000"/>
          </a:xfrm>
          <a:prstGeom prst="rect">
            <a:avLst/>
          </a:prstGeom>
          <a:solidFill>
            <a:srgbClr val="0238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0000" y="432000"/>
            <a:ext cx="1980000" cy="251999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  <a:latin typeface="Malgun Gothic"/>
              </a:defRPr>
            </a:pPr>
            <a:r>
              <a:t>Part 2 — 핵심 기능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756000"/>
            <a:ext cx="864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F172A"/>
                </a:solidFill>
                <a:latin typeface="Malgun Gothic"/>
              </a:defRPr>
              <a:lnSpc>
                <a:spcPct val="120000"/>
              </a:lnSpc>
            </a:pPr>
            <a:r>
              <a:t>Local PKD 구축 전략 — 인증서 수집 경로</a:t>
            </a:r>
          </a:p>
        </p:txBody>
      </p:sp>
      <p:sp>
        <p:nvSpPr>
          <p:cNvPr id="5" name="Rectangle 4"/>
          <p:cNvSpPr/>
          <p:nvPr/>
        </p:nvSpPr>
        <p:spPr>
          <a:xfrm>
            <a:off x="540000" y="1188000"/>
            <a:ext cx="1440000" cy="28800"/>
          </a:xfrm>
          <a:prstGeom prst="rect">
            <a:avLst/>
          </a:prstGeom>
          <a:solidFill>
            <a:srgbClr val="0238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7273263"/>
            <a:ext cx="10693400" cy="28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0000" y="7309264"/>
            <a:ext cx="36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64748B"/>
                </a:solidFill>
                <a:latin typeface="Malgun Gothic"/>
              </a:defRPr>
              <a:lnSpc>
                <a:spcPct val="120000"/>
              </a:lnSpc>
            </a:pPr>
            <a:r>
              <a:t>FASTpass® SPKD — 전자여권 위·변조 검사 시스템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00000" y="7309264"/>
            <a:ext cx="216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64748B"/>
                </a:solidFill>
                <a:latin typeface="Malgun Gothic"/>
              </a:defRPr>
              <a:lnSpc>
                <a:spcPct val="120000"/>
              </a:lnSpc>
            </a:pPr>
            <a:r>
              <a:t>© 2026 SMARTCORE Inc.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0000" y="1440000"/>
          <a:ext cx="4500000" cy="12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0000"/>
                <a:gridCol w="1440000"/>
                <a:gridCol w="1440000"/>
              </a:tblGrid>
              <a:tr h="315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수집 경로</a:t>
                      </a:r>
                    </a:p>
                  </a:txBody>
                  <a:tcPr anchor="ctr">
                    <a:solidFill>
                      <a:srgbClr val="0238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정보 종류</a:t>
                      </a:r>
                    </a:p>
                  </a:txBody>
                  <a:tcPr anchor="ctr">
                    <a:solidFill>
                      <a:srgbClr val="0238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수집 형태</a:t>
                      </a:r>
                    </a:p>
                  </a:txBody>
                  <a:tcPr anchor="ctr">
                    <a:solidFill>
                      <a:srgbClr val="02385E"/>
                    </a:solidFill>
                  </a:tcPr>
                </a:tc>
              </a:tr>
              <a:tr h="315000">
                <a:tc>
                  <a:txBody>
                    <a:bodyPr/>
                    <a:lstStyle/>
                    <a:p>
                      <a:pPr algn="l">
                        <a:defRPr sz="700" b="1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외교적 경로 (양자 협정)</a:t>
                      </a:r>
                    </a:p>
                  </a:txBody>
                  <a:tcPr anchor="ctr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CSCA / DSC / JRL</a:t>
                      </a:r>
                    </a:p>
                  </a:txBody>
                  <a:tcPr anchor="ctr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공문, 저장매체 수신</a:t>
                      </a:r>
                    </a:p>
                  </a:txBody>
                  <a:tcPr anchor="ctr">
                    <a:solidFill>
                      <a:srgbClr val="EFF6FF"/>
                    </a:solidFill>
                  </a:tcPr>
                </a:tc>
              </a:tr>
              <a:tr h="315000">
                <a:tc>
                  <a:txBody>
                    <a:bodyPr/>
                    <a:lstStyle/>
                    <a:p>
                      <a:pPr algn="l">
                        <a:defRPr sz="700" b="1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ICAO PKD (2026.03~ 신규)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DSC / CRL / ML / DL / DSC_NC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CSR 인증 로그인 + LDAP/REST API</a:t>
                      </a:r>
                    </a:p>
                  </a:txBody>
                  <a:tcPr anchor="ctr"/>
                </a:tc>
              </a:tr>
              <a:tr h="315000">
                <a:tc>
                  <a:txBody>
                    <a:bodyPr/>
                    <a:lstStyle/>
                    <a:p>
                      <a:pPr algn="l">
                        <a:defRPr sz="700" b="1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ICAO Web</a:t>
                      </a:r>
                    </a:p>
                  </a:txBody>
                  <a:tcPr anchor="ctr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ML (현재 형태로 공개)</a:t>
                      </a:r>
                    </a:p>
                  </a:txBody>
                  <a:tcPr anchor="ctr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파일 다운로드</a:t>
                      </a:r>
                    </a:p>
                  </a:txBody>
                  <a:tcPr anchor="ctr">
                    <a:solidFill>
                      <a:srgbClr val="EFF6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400000" y="1440000"/>
            <a:ext cx="36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2563EB"/>
                </a:solidFill>
                <a:latin typeface="Malgun Gothic"/>
              </a:defRPr>
              <a:lnSpc>
                <a:spcPct val="120000"/>
              </a:lnSpc>
            </a:pPr>
            <a:r>
              <a:t>외교적 경로 + ICAO PKD + Web → Local PKD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00000" y="1872000"/>
            <a:ext cx="1800000" cy="72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08000" y="1980000"/>
            <a:ext cx="1584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02385E"/>
                </a:solidFill>
                <a:latin typeface="Malgun Gothic"/>
              </a:defRPr>
              <a:lnSpc>
                <a:spcPct val="120000"/>
              </a:lnSpc>
            </a:pPr>
            <a:r>
              <a:t>31,212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08000" y="2412000"/>
            <a:ext cx="1584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64748B"/>
                </a:solidFill>
                <a:latin typeface="Malgun Gothic"/>
              </a:defRPr>
              <a:lnSpc>
                <a:spcPct val="120000"/>
              </a:lnSpc>
            </a:pPr>
            <a:r>
              <a:t>총 인증서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80000" y="1872000"/>
            <a:ext cx="1800000" cy="72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88000" y="1980000"/>
            <a:ext cx="1584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059669"/>
                </a:solidFill>
                <a:latin typeface="Malgun Gothic"/>
              </a:defRPr>
              <a:lnSpc>
                <a:spcPct val="120000"/>
              </a:lnSpc>
            </a:pPr>
            <a:r>
              <a:t>139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88000" y="2412000"/>
            <a:ext cx="1584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64748B"/>
                </a:solidFill>
                <a:latin typeface="Malgun Gothic"/>
              </a:defRPr>
              <a:lnSpc>
                <a:spcPct val="120000"/>
              </a:lnSpc>
            </a:pPr>
            <a:r>
              <a:t>국가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00000" y="2808000"/>
            <a:ext cx="36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F172A"/>
                </a:solidFill>
                <a:latin typeface="Malgun Gothic"/>
              </a:defRPr>
              <a:lnSpc>
                <a:spcPct val="120000"/>
              </a:lnSpc>
            </a:pPr>
            <a:r>
              <a:t>지원 파일 형식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00000" y="3024000"/>
            <a:ext cx="36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2563EB"/>
                </a:solidFill>
                <a:latin typeface="Malgun Gothic"/>
              </a:defRPr>
              <a:lnSpc>
                <a:spcPct val="120000"/>
              </a:lnSpc>
            </a:pPr>
            <a:r>
              <a:t>LDIF  ·  ML (.ml)  ·  PEM  ·  DER  ·  P7B  ·  CER  ·  CRL  ·  DL  ·  JRL (.bin)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0000" y="3060000"/>
            <a:ext cx="864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2385E"/>
                </a:solidFill>
                <a:latin typeface="Malgun Gothic"/>
              </a:defRPr>
              <a:lnSpc>
                <a:spcPct val="120000"/>
              </a:lnSpc>
            </a:pPr>
            <a:r>
              <a:t>운영 데이터 현황 — 139개국, 31,212건 (DB-LDAP 100% 동기화)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0000" y="3348000"/>
            <a:ext cx="1620000" cy="9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8000" y="3456000"/>
            <a:ext cx="1404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02385E"/>
                </a:solidFill>
                <a:latin typeface="Malgun Gothic"/>
              </a:defRPr>
              <a:lnSpc>
                <a:spcPct val="120000"/>
              </a:lnSpc>
            </a:pPr>
            <a:r>
              <a:t>29,838건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8000" y="3888000"/>
            <a:ext cx="1404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64748B"/>
                </a:solidFill>
                <a:latin typeface="Malgun Gothic"/>
              </a:defRPr>
              <a:lnSpc>
                <a:spcPct val="120000"/>
              </a:lnSpc>
            </a:pPr>
            <a:r>
              <a:t>DSC (95.6%)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340000" y="3348000"/>
            <a:ext cx="1620000" cy="9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448000" y="3456000"/>
            <a:ext cx="1404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02385E"/>
                </a:solidFill>
                <a:latin typeface="Malgun Gothic"/>
              </a:defRPr>
              <a:lnSpc>
                <a:spcPct val="120000"/>
              </a:lnSpc>
            </a:pPr>
            <a:r>
              <a:t>845건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448000" y="3888000"/>
            <a:ext cx="1404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64748B"/>
                </a:solidFill>
                <a:latin typeface="Malgun Gothic"/>
              </a:defRPr>
              <a:lnSpc>
                <a:spcPct val="120000"/>
              </a:lnSpc>
            </a:pPr>
            <a:r>
              <a:t>CSCA (2.7%)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140000" y="3348000"/>
            <a:ext cx="1620000" cy="9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248000" y="3456000"/>
            <a:ext cx="1404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02385E"/>
                </a:solidFill>
                <a:latin typeface="Malgun Gothic"/>
              </a:defRPr>
              <a:lnSpc>
                <a:spcPct val="120000"/>
              </a:lnSpc>
            </a:pPr>
            <a:r>
              <a:t>502건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248000" y="3888000"/>
            <a:ext cx="1404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64748B"/>
                </a:solidFill>
                <a:latin typeface="Malgun Gothic"/>
              </a:defRPr>
              <a:lnSpc>
                <a:spcPct val="120000"/>
              </a:lnSpc>
            </a:pPr>
            <a:r>
              <a:t>DSC_NC (1.6%)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940000" y="3348000"/>
            <a:ext cx="1620000" cy="9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048000" y="3456000"/>
            <a:ext cx="1404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02385E"/>
                </a:solidFill>
                <a:latin typeface="Malgun Gothic"/>
              </a:defRPr>
              <a:lnSpc>
                <a:spcPct val="120000"/>
              </a:lnSpc>
            </a:pPr>
            <a:r>
              <a:t>27건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048000" y="3888000"/>
            <a:ext cx="1404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64748B"/>
                </a:solidFill>
                <a:latin typeface="Malgun Gothic"/>
              </a:defRPr>
              <a:lnSpc>
                <a:spcPct val="120000"/>
              </a:lnSpc>
            </a:pPr>
            <a:r>
              <a:t>MLSC (0.1%)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740000" y="3348000"/>
            <a:ext cx="1620000" cy="9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848000" y="3456000"/>
            <a:ext cx="1404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02385E"/>
                </a:solidFill>
                <a:latin typeface="Malgun Gothic"/>
              </a:defRPr>
              <a:lnSpc>
                <a:spcPct val="120000"/>
              </a:lnSpc>
            </a:pPr>
            <a:r>
              <a:t>69건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848000" y="3888000"/>
            <a:ext cx="1404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64748B"/>
                </a:solidFill>
                <a:latin typeface="Malgun Gothic"/>
              </a:defRPr>
              <a:lnSpc>
                <a:spcPct val="120000"/>
              </a:lnSpc>
            </a:pPr>
            <a:r>
              <a:t>CRL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93400" cy="54000"/>
          </a:xfrm>
          <a:prstGeom prst="rect">
            <a:avLst/>
          </a:prstGeom>
          <a:solidFill>
            <a:srgbClr val="0238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0000" y="432000"/>
            <a:ext cx="1980000" cy="251999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  <a:latin typeface="Malgun Gothic"/>
              </a:defRPr>
            </a:pPr>
            <a:r>
              <a:t>Part 2 — 기능 설계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756000"/>
            <a:ext cx="864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F172A"/>
                </a:solidFill>
                <a:latin typeface="Malgun Gothic"/>
              </a:defRPr>
              <a:lnSpc>
                <a:spcPct val="120000"/>
              </a:lnSpc>
            </a:pPr>
            <a:r>
              <a:t>핵심 기능 요약</a:t>
            </a:r>
          </a:p>
        </p:txBody>
      </p:sp>
      <p:sp>
        <p:nvSpPr>
          <p:cNvPr id="5" name="Rectangle 4"/>
          <p:cNvSpPr/>
          <p:nvPr/>
        </p:nvSpPr>
        <p:spPr>
          <a:xfrm>
            <a:off x="540000" y="1188000"/>
            <a:ext cx="1440000" cy="28800"/>
          </a:xfrm>
          <a:prstGeom prst="rect">
            <a:avLst/>
          </a:prstGeom>
          <a:solidFill>
            <a:srgbClr val="0238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7273263"/>
            <a:ext cx="10693400" cy="28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0000" y="7309264"/>
            <a:ext cx="36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64748B"/>
                </a:solidFill>
                <a:latin typeface="Malgun Gothic"/>
              </a:defRPr>
              <a:lnSpc>
                <a:spcPct val="120000"/>
              </a:lnSpc>
            </a:pPr>
            <a:r>
              <a:t>FASTpass® SPKD — 전자여권 위·변조 검사 시스템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00000" y="7309264"/>
            <a:ext cx="216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64748B"/>
                </a:solidFill>
                <a:latin typeface="Malgun Gothic"/>
              </a:defRPr>
              <a:lnSpc>
                <a:spcPct val="120000"/>
              </a:lnSpc>
            </a:pPr>
            <a:r>
              <a:t>© 2026 SMARTCORE Inc.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0000" y="1368000"/>
          <a:ext cx="8640000" cy="27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0000"/>
                <a:gridCol w="4680000"/>
                <a:gridCol w="2160000"/>
              </a:tblGrid>
              <a:tr h="300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기능</a:t>
                      </a:r>
                    </a:p>
                  </a:txBody>
                  <a:tcPr anchor="ctr">
                    <a:solidFill>
                      <a:srgbClr val="0238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설명</a:t>
                      </a:r>
                    </a:p>
                  </a:txBody>
                  <a:tcPr anchor="ctr">
                    <a:solidFill>
                      <a:srgbClr val="0238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효과</a:t>
                      </a:r>
                    </a:p>
                  </a:txBody>
                  <a:tcPr anchor="ctr">
                    <a:solidFill>
                      <a:srgbClr val="02385E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인증서 통합 관리</a:t>
                      </a:r>
                    </a:p>
                  </a:txBody>
                  <a:tcPr anchor="ctr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LDIF/ML/PEM/DER/P7B/DL/CRL 원클릭 업로드 + 자동 파싱·검증·저장</a:t>
                      </a:r>
                    </a:p>
                  </a:txBody>
                  <a:tcPr anchor="ctr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059669"/>
                          </a:solidFill>
                          <a:latin typeface="Malgun Gothic"/>
                        </a:defRPr>
                      </a:pPr>
                      <a:r>
                        <a:t>운영 90% 단축</a:t>
                      </a:r>
                    </a:p>
                  </a:txBody>
                  <a:tcPr anchor="ctr">
                    <a:solidFill>
                      <a:srgbClr val="EFF6FF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PA 검증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ICAO 9303 Part 10 &amp; 11 완벽 준수 8단계 자동 위·변조 검증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059669"/>
                          </a:solidFill>
                          <a:latin typeface="Malgun Gothic"/>
                        </a:defRPr>
                      </a:pPr>
                      <a:r>
                        <a:t>99.9% 정확도</a:t>
                      </a:r>
                    </a:p>
                  </a:txBody>
                  <a:tcPr anchor="ctr"/>
                </a:tc>
              </a:tr>
              <a:tr h="300000"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인증서 검색</a:t>
                      </a:r>
                    </a:p>
                  </a:txBody>
                  <a:tcPr anchor="ctr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139개국 3만+ 인증서 초고속 검색 (국가/타입/상태/DN 필터)</a:t>
                      </a:r>
                    </a:p>
                  </a:txBody>
                  <a:tcPr anchor="ctr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059669"/>
                          </a:solidFill>
                          <a:latin typeface="Malgun Gothic"/>
                        </a:defRPr>
                      </a:pPr>
                      <a:r>
                        <a:t>40ms 응답</a:t>
                      </a:r>
                    </a:p>
                  </a:txBody>
                  <a:tcPr anchor="ctr">
                    <a:solidFill>
                      <a:srgbClr val="EFF6FF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DB-LDAP 동기화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30초 주기 자동 체크, 불일치 즉시 감지 및 자동 조정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059669"/>
                          </a:solidFill>
                          <a:latin typeface="Malgun Gothic"/>
                        </a:defRPr>
                      </a:pPr>
                      <a:r>
                        <a:t>100% 일관성</a:t>
                      </a:r>
                    </a:p>
                  </a:txBody>
                  <a:tcPr anchor="ctr"/>
                </a:tc>
              </a:tr>
              <a:tr h="300000"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ICAO 버전 관리</a:t>
                      </a:r>
                    </a:p>
                  </a:txBody>
                  <a:tcPr anchor="ctr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매일 자동 체크, 신규 버전 감지 시 실시간 알림</a:t>
                      </a:r>
                    </a:p>
                  </a:txBody>
                  <a:tcPr anchor="ctr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059669"/>
                          </a:solidFill>
                          <a:latin typeface="Malgun Gothic"/>
                        </a:defRPr>
                      </a:pPr>
                      <a:r>
                        <a:t>자동화</a:t>
                      </a:r>
                    </a:p>
                  </a:txBody>
                  <a:tcPr anchor="ctr">
                    <a:solidFill>
                      <a:srgbClr val="EFF6FF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CSR 관리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ICAO PKD CSR 생성 (RSA-2048, SHA256withRSA, PKCS#10)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059669"/>
                          </a:solidFill>
                          <a:latin typeface="Malgun Gothic"/>
                        </a:defRPr>
                      </a:pPr>
                      <a:r>
                        <a:t>PKD 전환 대응</a:t>
                      </a:r>
                    </a:p>
                  </a:txBody>
                  <a:tcPr anchor="ctr"/>
                </a:tc>
              </a:tr>
              <a:tr h="300000"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DL·Non-Conformant 관리</a:t>
                      </a:r>
                    </a:p>
                  </a:txBody>
                  <a:tcPr anchor="ctr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각국 DL 및 비표준 DSC 미준수 사항 조회·관리, DSC_NC 보고서</a:t>
                      </a:r>
                    </a:p>
                  </a:txBody>
                  <a:tcPr anchor="ctr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059669"/>
                          </a:solidFill>
                          <a:latin typeface="Malgun Gothic"/>
                        </a:defRPr>
                      </a:pPr>
                      <a:r>
                        <a:t>사업과제 #11</a:t>
                      </a:r>
                    </a:p>
                  </a:txBody>
                  <a:tcPr anchor="ctr">
                    <a:solidFill>
                      <a:srgbClr val="EFF6FF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ICRM 연동 API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700" b="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REST API + X-API-Key 인증, Export (DER/PEM/ZIP), 실시간 PA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059669"/>
                          </a:solidFill>
                          <a:latin typeface="Malgun Gothic"/>
                        </a:defRPr>
                      </a:pPr>
                      <a:r>
                        <a:t>사업과제 #15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93400" cy="54000"/>
          </a:xfrm>
          <a:prstGeom prst="rect">
            <a:avLst/>
          </a:prstGeom>
          <a:solidFill>
            <a:srgbClr val="0238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0000" y="432000"/>
            <a:ext cx="1980000" cy="251999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  <a:latin typeface="Malgun Gothic"/>
              </a:defRPr>
            </a:pPr>
            <a:r>
              <a:t>Part 2 — 검증된 성과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756000"/>
            <a:ext cx="864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F172A"/>
                </a:solidFill>
                <a:latin typeface="Malgun Gothic"/>
              </a:defRPr>
              <a:lnSpc>
                <a:spcPct val="120000"/>
              </a:lnSpc>
            </a:pPr>
            <a:r>
              <a:t>ICAO PKD Download 사이트 게시 데이터 내의 인증서 분포 현황</a:t>
            </a:r>
          </a:p>
        </p:txBody>
      </p:sp>
      <p:sp>
        <p:nvSpPr>
          <p:cNvPr id="5" name="Rectangle 4"/>
          <p:cNvSpPr/>
          <p:nvPr/>
        </p:nvSpPr>
        <p:spPr>
          <a:xfrm>
            <a:off x="540000" y="1188000"/>
            <a:ext cx="1440000" cy="28800"/>
          </a:xfrm>
          <a:prstGeom prst="rect">
            <a:avLst/>
          </a:prstGeom>
          <a:solidFill>
            <a:srgbClr val="0238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7273263"/>
            <a:ext cx="10693400" cy="28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0000" y="7309264"/>
            <a:ext cx="36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64748B"/>
                </a:solidFill>
                <a:latin typeface="Malgun Gothic"/>
              </a:defRPr>
              <a:lnSpc>
                <a:spcPct val="120000"/>
              </a:lnSpc>
            </a:pPr>
            <a:r>
              <a:t>FASTpass® SPKD — 전자여권 위·변조 검사 시스템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00000" y="7309264"/>
            <a:ext cx="216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64748B"/>
                </a:solidFill>
                <a:latin typeface="Malgun Gothic"/>
              </a:defRPr>
              <a:lnSpc>
                <a:spcPct val="120000"/>
              </a:lnSpc>
            </a:pPr>
            <a:r>
              <a:t>© 2026 SMARTCORE Inc.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0000" y="1512000"/>
            <a:ext cx="43200" cy="503999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2000" y="1548000"/>
            <a:ext cx="828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F172A"/>
                </a:solidFill>
                <a:latin typeface="Malgun Gothic"/>
              </a:defRPr>
              <a:lnSpc>
                <a:spcPct val="120000"/>
              </a:lnSpc>
            </a:pPr>
            <a:r>
              <a:t>DSC 29,838건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2000" y="1763999"/>
            <a:ext cx="828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4748B"/>
                </a:solidFill>
                <a:latin typeface="Malgun Gothic"/>
              </a:defRPr>
              <a:lnSpc>
                <a:spcPct val="120000"/>
              </a:lnSpc>
            </a:pPr>
            <a:r>
              <a:t>95.6% — 문서 서명 인증서 (Document Signer Certificate)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0000" y="2160000"/>
            <a:ext cx="43200" cy="503999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2000" y="2196000"/>
            <a:ext cx="828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F172A"/>
                </a:solidFill>
                <a:latin typeface="Malgun Gothic"/>
              </a:defRPr>
              <a:lnSpc>
                <a:spcPct val="120000"/>
              </a:lnSpc>
            </a:pPr>
            <a:r>
              <a:t>CSCA 845건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2000" y="2411999"/>
            <a:ext cx="828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4748B"/>
                </a:solidFill>
                <a:latin typeface="Malgun Gothic"/>
              </a:defRPr>
              <a:lnSpc>
                <a:spcPct val="120000"/>
              </a:lnSpc>
            </a:pPr>
            <a:r>
              <a:t>2.7% — 국가 서명 인증 기관 (Country Signing CA)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40000" y="2808000"/>
            <a:ext cx="43200" cy="503999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92000" y="2844000"/>
            <a:ext cx="828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F172A"/>
                </a:solidFill>
                <a:latin typeface="Malgun Gothic"/>
              </a:defRPr>
              <a:lnSpc>
                <a:spcPct val="120000"/>
              </a:lnSpc>
            </a:pPr>
            <a:r>
              <a:t>DSC_NC 502건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92000" y="3059999"/>
            <a:ext cx="828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4748B"/>
                </a:solidFill>
                <a:latin typeface="Malgun Gothic"/>
              </a:defRPr>
              <a:lnSpc>
                <a:spcPct val="120000"/>
              </a:lnSpc>
            </a:pPr>
            <a:r>
              <a:t>1.6% — 비표준 인증서 (Non-Conformant DSC)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0000" y="3456000"/>
            <a:ext cx="43200" cy="503999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2000" y="3492000"/>
            <a:ext cx="828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F172A"/>
                </a:solidFill>
                <a:latin typeface="Malgun Gothic"/>
              </a:defRPr>
              <a:lnSpc>
                <a:spcPct val="120000"/>
              </a:lnSpc>
            </a:pPr>
            <a:r>
              <a:t>MLSC 27건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2000" y="3707999"/>
            <a:ext cx="828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4748B"/>
                </a:solidFill>
                <a:latin typeface="Malgun Gothic"/>
              </a:defRPr>
              <a:lnSpc>
                <a:spcPct val="120000"/>
              </a:lnSpc>
            </a:pPr>
            <a:r>
              <a:t>0.1% — 마스터리스트 서명 인증서 (ML Signer Certificate)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0000" y="4104000"/>
            <a:ext cx="43200" cy="503999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92000" y="4140000"/>
            <a:ext cx="828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F172A"/>
                </a:solidFill>
                <a:latin typeface="Malgun Gothic"/>
              </a:defRPr>
              <a:lnSpc>
                <a:spcPct val="120000"/>
              </a:lnSpc>
            </a:pPr>
            <a:r>
              <a:t>CRL 69건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2000" y="4355999"/>
            <a:ext cx="828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0">
                <a:solidFill>
                  <a:srgbClr val="64748B"/>
                </a:solidFill>
                <a:latin typeface="Malgun Gothic"/>
              </a:defRPr>
              <a:lnSpc>
                <a:spcPct val="120000"/>
              </a:lnSpc>
            </a:pPr>
            <a:r>
              <a:t>인증서 폐기 목록 (Certificate Revocation List)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0000" y="4752000"/>
            <a:ext cx="2160000" cy="72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000" y="4860000"/>
            <a:ext cx="1944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02385E"/>
                </a:solidFill>
                <a:latin typeface="Malgun Gothic"/>
              </a:defRPr>
              <a:lnSpc>
                <a:spcPct val="120000"/>
              </a:lnSpc>
            </a:pPr>
            <a:r>
              <a:t>31,212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8000" y="5292000"/>
            <a:ext cx="1944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64748B"/>
                </a:solidFill>
                <a:latin typeface="Malgun Gothic"/>
              </a:defRPr>
              <a:lnSpc>
                <a:spcPct val="120000"/>
              </a:lnSpc>
            </a:pPr>
            <a:r>
              <a:t>총 인증서 (139개국)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880000" y="4752000"/>
            <a:ext cx="2160000" cy="72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988000" y="4860000"/>
            <a:ext cx="1944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059669"/>
                </a:solidFill>
                <a:latin typeface="Malgun Gothic"/>
              </a:defRPr>
              <a:lnSpc>
                <a:spcPct val="120000"/>
              </a:lnSpc>
            </a:pPr>
            <a:r>
              <a:t>100%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988000" y="5292000"/>
            <a:ext cx="1944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64748B"/>
                </a:solidFill>
                <a:latin typeface="Malgun Gothic"/>
              </a:defRPr>
              <a:lnSpc>
                <a:spcPct val="120000"/>
              </a:lnSpc>
            </a:pPr>
            <a:r>
              <a:t>DB-LDAP 동기화율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93400" cy="54000"/>
          </a:xfrm>
          <a:prstGeom prst="rect">
            <a:avLst/>
          </a:prstGeom>
          <a:solidFill>
            <a:srgbClr val="0238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0000" y="432000"/>
            <a:ext cx="1980000" cy="251999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  <a:latin typeface="Malgun Gothic"/>
              </a:defRPr>
            </a:pPr>
            <a:r>
              <a:t>Part 2 — 성능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756000"/>
            <a:ext cx="864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F172A"/>
                </a:solidFill>
                <a:latin typeface="Malgun Gothic"/>
              </a:defRPr>
              <a:lnSpc>
                <a:spcPct val="120000"/>
              </a:lnSpc>
            </a:pPr>
            <a:r>
              <a:t>성능 벤치마크</a:t>
            </a:r>
          </a:p>
        </p:txBody>
      </p:sp>
      <p:sp>
        <p:nvSpPr>
          <p:cNvPr id="5" name="Rectangle 4"/>
          <p:cNvSpPr/>
          <p:nvPr/>
        </p:nvSpPr>
        <p:spPr>
          <a:xfrm>
            <a:off x="540000" y="1188000"/>
            <a:ext cx="1440000" cy="28800"/>
          </a:xfrm>
          <a:prstGeom prst="rect">
            <a:avLst/>
          </a:prstGeom>
          <a:solidFill>
            <a:srgbClr val="0238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7273263"/>
            <a:ext cx="10693400" cy="28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0000" y="7309264"/>
            <a:ext cx="36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64748B"/>
                </a:solidFill>
                <a:latin typeface="Malgun Gothic"/>
              </a:defRPr>
              <a:lnSpc>
                <a:spcPct val="120000"/>
              </a:lnSpc>
            </a:pPr>
            <a:r>
              <a:t>FASTpass® SPKD — 전자여권 위·변조 검사 시스템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00000" y="7309264"/>
            <a:ext cx="216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64748B"/>
                </a:solidFill>
                <a:latin typeface="Malgun Gothic"/>
              </a:defRPr>
              <a:lnSpc>
                <a:spcPct val="120000"/>
              </a:lnSpc>
            </a:pPr>
            <a:r>
              <a:t>© 2026 SMARTCORE Inc.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0000" y="1440000"/>
          <a:ext cx="8640000" cy="19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80000"/>
                <a:gridCol w="2160000"/>
                <a:gridCol w="3600000"/>
              </a:tblGrid>
              <a:tr h="282857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작업</a:t>
                      </a:r>
                    </a:p>
                  </a:txBody>
                  <a:tcPr anchor="ctr">
                    <a:solidFill>
                      <a:srgbClr val="0238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처리 시간</a:t>
                      </a:r>
                    </a:p>
                  </a:txBody>
                  <a:tcPr anchor="ctr">
                    <a:solidFill>
                      <a:srgbClr val="0238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비고</a:t>
                      </a:r>
                    </a:p>
                  </a:txBody>
                  <a:tcPr anchor="ctr">
                    <a:solidFill>
                      <a:srgbClr val="02385E"/>
                    </a:solidFill>
                  </a:tcPr>
                </a:tc>
              </a:tr>
              <a:tr h="282857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PA 검증 (8단계)</a:t>
                      </a:r>
                    </a:p>
                  </a:txBody>
                  <a:tcPr anchor="ctr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59669"/>
                          </a:solidFill>
                          <a:latin typeface="Malgun Gothic"/>
                        </a:defRPr>
                      </a:pPr>
                      <a:r>
                        <a:t>100~300ms</a:t>
                      </a:r>
                    </a:p>
                  </a:txBody>
                  <a:tcPr anchor="ctr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ICAO 9303 완벽 준수</a:t>
                      </a:r>
                    </a:p>
                  </a:txBody>
                  <a:tcPr anchor="ctr">
                    <a:solidFill>
                      <a:srgbClr val="EFF6FF"/>
                    </a:solidFill>
                  </a:tcPr>
                </a:tc>
              </a:tr>
              <a:tr h="282857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인증서 검색 (3만건)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59669"/>
                          </a:solidFill>
                          <a:latin typeface="Malgun Gothic"/>
                        </a:defRPr>
                      </a:pPr>
                      <a:r>
                        <a:t>40ms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1,975배 개선</a:t>
                      </a:r>
                    </a:p>
                  </a:txBody>
                  <a:tcPr anchor="ctr"/>
                </a:tc>
              </a:tr>
              <a:tr h="282857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Trust Chain 검증</a:t>
                      </a:r>
                    </a:p>
                  </a:txBody>
                  <a:tcPr anchor="ctr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59669"/>
                          </a:solidFill>
                          <a:latin typeface="Malgun Gothic"/>
                        </a:defRPr>
                      </a:pPr>
                      <a:r>
                        <a:t>20ms</a:t>
                      </a:r>
                    </a:p>
                  </a:txBody>
                  <a:tcPr anchor="ctr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CSCA → LC → DSC 다단계</a:t>
                      </a:r>
                    </a:p>
                  </a:txBody>
                  <a:tcPr anchor="ctr">
                    <a:solidFill>
                      <a:srgbClr val="EFF6FF"/>
                    </a:solidFill>
                  </a:tcPr>
                </a:tc>
              </a:tr>
              <a:tr h="282857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DB↔LDAP 동기화 확인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59669"/>
                          </a:solidFill>
                          <a:latin typeface="Malgun Gothic"/>
                        </a:defRPr>
                      </a:pPr>
                      <a:r>
                        <a:t>1~2초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31,000+ 인증서 비교</a:t>
                      </a:r>
                    </a:p>
                  </a:txBody>
                  <a:tcPr anchor="ctr"/>
                </a:tc>
              </a:tr>
              <a:tr h="282857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Master List 업로드 (537건)</a:t>
                      </a:r>
                    </a:p>
                  </a:txBody>
                  <a:tcPr anchor="ctr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59669"/>
                          </a:solidFill>
                          <a:latin typeface="Malgun Gothic"/>
                        </a:defRPr>
                      </a:pPr>
                      <a:r>
                        <a:t>3분 39초</a:t>
                      </a:r>
                    </a:p>
                  </a:txBody>
                  <a:tcPr anchor="ctr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파싱+검증+DB+LDAP</a:t>
                      </a:r>
                    </a:p>
                  </a:txBody>
                  <a:tcPr anchor="ctr">
                    <a:solidFill>
                      <a:srgbClr val="EFF6FF"/>
                    </a:solidFill>
                  </a:tcPr>
                </a:tc>
              </a:tr>
              <a:tr h="282858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전체 Export (ZIP)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59669"/>
                          </a:solidFill>
                          <a:latin typeface="Malgun Gothic"/>
                        </a:defRPr>
                      </a:pPr>
                      <a:r>
                        <a:t>2초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DIT 구조 폴더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1800000" y="3780000"/>
            <a:ext cx="2520000" cy="9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908000" y="3888000"/>
            <a:ext cx="2304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059669"/>
                </a:solidFill>
                <a:latin typeface="Malgun Gothic"/>
              </a:defRPr>
              <a:lnSpc>
                <a:spcPct val="120000"/>
              </a:lnSpc>
            </a:pPr>
            <a:r>
              <a:t>&lt;200ms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08000" y="4320000"/>
            <a:ext cx="2304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64748B"/>
                </a:solidFill>
                <a:latin typeface="Malgun Gothic"/>
              </a:defRPr>
              <a:lnSpc>
                <a:spcPct val="120000"/>
              </a:lnSpc>
            </a:pPr>
            <a:r>
              <a:t>평균 API 응답 시간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40000" y="3780000"/>
            <a:ext cx="2520000" cy="900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148000" y="3888000"/>
            <a:ext cx="2304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059669"/>
                </a:solidFill>
                <a:latin typeface="Malgun Gothic"/>
              </a:defRPr>
              <a:lnSpc>
                <a:spcPct val="120000"/>
              </a:lnSpc>
            </a:pPr>
            <a:r>
              <a:t>99.9%+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48000" y="4320000"/>
            <a:ext cx="2304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64748B"/>
                </a:solidFill>
                <a:latin typeface="Malgun Gothic"/>
              </a:defRPr>
              <a:lnSpc>
                <a:spcPct val="120000"/>
              </a:lnSpc>
            </a:pPr>
            <a:r>
              <a:t>시스템 가용성 (SLA)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11D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80000" y="2160000"/>
            <a:ext cx="72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94A3B8"/>
                </a:solidFill>
                <a:latin typeface="Malgun Gothic"/>
              </a:defRPr>
              <a:lnSpc>
                <a:spcPct val="120000"/>
              </a:lnSpc>
            </a:pPr>
            <a:r>
              <a:t>Part 3</a:t>
            </a:r>
          </a:p>
        </p:txBody>
      </p:sp>
      <p:sp>
        <p:nvSpPr>
          <p:cNvPr id="3" name="Rectangle 2"/>
          <p:cNvSpPr/>
          <p:nvPr/>
        </p:nvSpPr>
        <p:spPr>
          <a:xfrm>
            <a:off x="1080000" y="2592000"/>
            <a:ext cx="2160000" cy="288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80000" y="2700000"/>
            <a:ext cx="72000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FFFFF"/>
                </a:solidFill>
                <a:latin typeface="Malgun Gothic"/>
              </a:defRPr>
              <a:lnSpc>
                <a:spcPct val="120000"/>
              </a:lnSpc>
            </a:pPr>
            <a:r>
              <a:t>보안 대책 및 프로젝트 관리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80000" y="3600000"/>
            <a:ext cx="79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64748B"/>
                </a:solidFill>
                <a:latin typeface="Malgun Gothic"/>
              </a:defRPr>
              <a:lnSpc>
                <a:spcPct val="120000"/>
              </a:lnSpc>
            </a:pPr>
            <a:r>
              <a:t>법적 컴플라이언스 · 보안 인증 · 체계적 사업 관리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93400" cy="54000"/>
          </a:xfrm>
          <a:prstGeom prst="rect">
            <a:avLst/>
          </a:prstGeom>
          <a:solidFill>
            <a:srgbClr val="0238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0000" y="432000"/>
            <a:ext cx="1980000" cy="251999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  <a:latin typeface="Malgun Gothic"/>
              </a:defRPr>
            </a:pPr>
            <a:r>
              <a:t>Part 3 — 보안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756000"/>
            <a:ext cx="864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F172A"/>
                </a:solidFill>
                <a:latin typeface="Malgun Gothic"/>
              </a:defRPr>
              <a:lnSpc>
                <a:spcPct val="120000"/>
              </a:lnSpc>
            </a:pPr>
            <a:r>
              <a:t>보안 대책 및 법적 준수</a:t>
            </a:r>
          </a:p>
        </p:txBody>
      </p:sp>
      <p:sp>
        <p:nvSpPr>
          <p:cNvPr id="5" name="Rectangle 4"/>
          <p:cNvSpPr/>
          <p:nvPr/>
        </p:nvSpPr>
        <p:spPr>
          <a:xfrm>
            <a:off x="540000" y="1188000"/>
            <a:ext cx="1440000" cy="28800"/>
          </a:xfrm>
          <a:prstGeom prst="rect">
            <a:avLst/>
          </a:prstGeom>
          <a:solidFill>
            <a:srgbClr val="0238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7273263"/>
            <a:ext cx="10693400" cy="28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0000" y="7309264"/>
            <a:ext cx="36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64748B"/>
                </a:solidFill>
                <a:latin typeface="Malgun Gothic"/>
              </a:defRPr>
              <a:lnSpc>
                <a:spcPct val="120000"/>
              </a:lnSpc>
            </a:pPr>
            <a:r>
              <a:t>FASTpass® SPKD — 전자여권 위·변조 검사 시스템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00000" y="7309264"/>
            <a:ext cx="216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64748B"/>
                </a:solidFill>
                <a:latin typeface="Malgun Gothic"/>
              </a:defRPr>
              <a:lnSpc>
                <a:spcPct val="120000"/>
              </a:lnSpc>
            </a:pPr>
            <a:r>
              <a:t>© 2026 SMARTCORE Inc.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0000" y="1368000"/>
            <a:ext cx="432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F172A"/>
                </a:solidFill>
                <a:latin typeface="Malgun Gothic"/>
              </a:defRPr>
              <a:lnSpc>
                <a:spcPct val="120000"/>
              </a:lnSpc>
            </a:pPr>
            <a:r>
              <a:t>기술적 보안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0000" y="1655999"/>
            <a:ext cx="432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F172A"/>
                </a:solidFill>
                <a:latin typeface="Malgun Gothic"/>
              </a:defRPr>
              <a:lnSpc>
                <a:spcPct val="120000"/>
              </a:lnSpc>
            </a:pPr>
            <a:r>
              <a:t>[1] AES-256-GCM 개인정보 암호화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0000" y="1835999"/>
            <a:ext cx="432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64748B"/>
                </a:solidFill>
                <a:latin typeface="Malgun Gothic"/>
              </a:defRPr>
              <a:lnSpc>
                <a:spcPct val="120000"/>
              </a:lnSpc>
            </a:pPr>
            <a:r>
              <a:t>여권번호·성명·이메일 등 PII 필드 인증된 암호화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0000" y="2196000"/>
            <a:ext cx="432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F172A"/>
                </a:solidFill>
                <a:latin typeface="Malgun Gothic"/>
              </a:defRPr>
              <a:lnSpc>
                <a:spcPct val="120000"/>
              </a:lnSpc>
            </a:pPr>
            <a:r>
              <a:t>[2] JWT + RBAC + API Key 인증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0000" y="2376000"/>
            <a:ext cx="432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64748B"/>
                </a:solidFill>
                <a:latin typeface="Malgun Gothic"/>
              </a:defRPr>
              <a:lnSpc>
                <a:spcPct val="120000"/>
              </a:lnSpc>
            </a:pPr>
            <a:r>
              <a:t>3중 인증 체계, Role 기반 접근 제어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0000" y="2736000"/>
            <a:ext cx="432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F172A"/>
                </a:solidFill>
                <a:latin typeface="Malgun Gothic"/>
              </a:defRPr>
              <a:lnSpc>
                <a:spcPct val="120000"/>
              </a:lnSpc>
            </a:pPr>
            <a:r>
              <a:t>[3] 이중 감사 로그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0000" y="2916000"/>
            <a:ext cx="432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64748B"/>
                </a:solidFill>
                <a:latin typeface="Malgun Gothic"/>
              </a:defRPr>
              <a:lnSpc>
                <a:spcPct val="120000"/>
              </a:lnSpc>
            </a:pPr>
            <a:r>
              <a:t>인증 감사(auth_audit) + 운영 감사(operation_audit)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0000" y="3276000"/>
            <a:ext cx="432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F172A"/>
                </a:solidFill>
                <a:latin typeface="Malgun Gothic"/>
              </a:defRPr>
              <a:lnSpc>
                <a:spcPct val="120000"/>
              </a:lnSpc>
            </a:pPr>
            <a:r>
              <a:t>[4] 100% 파라미터화 SQL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0000" y="3456000"/>
            <a:ext cx="432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64748B"/>
                </a:solidFill>
                <a:latin typeface="Malgun Gothic"/>
              </a:defRPr>
              <a:lnSpc>
                <a:spcPct val="120000"/>
              </a:lnSpc>
            </a:pPr>
            <a:r>
              <a:t>SQL 인젝션 원천 차단, CSP 헤더 XSS 방어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40000" y="1368000"/>
            <a:ext cx="432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200" b="1">
                <a:solidFill>
                  <a:srgbClr val="0F172A"/>
                </a:solidFill>
                <a:latin typeface="Malgun Gothic"/>
              </a:defRPr>
              <a:lnSpc>
                <a:spcPct val="120000"/>
              </a:lnSpc>
            </a:pPr>
            <a:r>
              <a:t>법적 컴플라이언스</a:t>
            </a:r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5040000" y="1655999"/>
          <a:ext cx="4140000" cy="18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0000"/>
                <a:gridCol w="2160000"/>
              </a:tblGrid>
              <a:tr h="300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법령/표준</a:t>
                      </a:r>
                    </a:p>
                  </a:txBody>
                  <a:tcPr anchor="ctr">
                    <a:solidFill>
                      <a:srgbClr val="0238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준수 상태</a:t>
                      </a:r>
                    </a:p>
                  </a:txBody>
                  <a:tcPr anchor="ctr">
                    <a:solidFill>
                      <a:srgbClr val="02385E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l">
                        <a:defRPr sz="700" b="1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개인정보보호법 §29 안전조치</a:t>
                      </a:r>
                    </a:p>
                  </a:txBody>
                  <a:tcPr anchor="ctr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059669"/>
                          </a:solidFill>
                          <a:latin typeface="Malgun Gothic"/>
                        </a:defRPr>
                      </a:pPr>
                      <a:r>
                        <a:t>준수 — AES-256-GCM 암호화</a:t>
                      </a:r>
                    </a:p>
                  </a:txBody>
                  <a:tcPr anchor="ctr">
                    <a:solidFill>
                      <a:srgbClr val="EFF6FF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l">
                        <a:defRPr sz="700" b="1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개인정보보호법 §24 고유식별정보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059669"/>
                          </a:solidFill>
                          <a:latin typeface="Malgun Gothic"/>
                        </a:defRPr>
                      </a:pPr>
                      <a:r>
                        <a:t>준수 — 여권번호 암호화 저장</a:t>
                      </a:r>
                    </a:p>
                  </a:txBody>
                  <a:tcPr anchor="ctr"/>
                </a:tc>
              </a:tr>
              <a:tr h="300000">
                <a:tc>
                  <a:txBody>
                    <a:bodyPr/>
                    <a:lstStyle/>
                    <a:p>
                      <a:pPr algn="l">
                        <a:defRPr sz="700" b="1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전자정부법 시행령 §69 KCMVP</a:t>
                      </a:r>
                    </a:p>
                  </a:txBody>
                  <a:tcPr anchor="ctr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2563EB"/>
                          </a:solidFill>
                          <a:latin typeface="Malgun Gothic"/>
                        </a:defRPr>
                      </a:pPr>
                      <a:r>
                        <a:t>대응 가능 — OpenSSL FIPS 모드</a:t>
                      </a:r>
                    </a:p>
                  </a:txBody>
                  <a:tcPr anchor="ctr">
                    <a:solidFill>
                      <a:srgbClr val="EFF6FF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l">
                        <a:defRPr sz="700" b="1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CC 인증 (보안기능확인서)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2563EB"/>
                          </a:solidFill>
                          <a:latin typeface="Malgun Gothic"/>
                        </a:defRPr>
                      </a:pPr>
                      <a:r>
                        <a:t>대응 가능 — 평가 대비 설계</a:t>
                      </a:r>
                    </a:p>
                  </a:txBody>
                  <a:tcPr anchor="ctr"/>
                </a:tc>
              </a:tr>
              <a:tr h="300000">
                <a:tc>
                  <a:txBody>
                    <a:bodyPr/>
                    <a:lstStyle/>
                    <a:p>
                      <a:pPr algn="l">
                        <a:defRPr sz="700" b="1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ICAO Doc 9303 Part 10 &amp; 11</a:t>
                      </a:r>
                    </a:p>
                  </a:txBody>
                  <a:tcPr anchor="ctr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00" b="1">
                          <a:solidFill>
                            <a:srgbClr val="059669"/>
                          </a:solidFill>
                          <a:latin typeface="Malgun Gothic"/>
                        </a:defRPr>
                      </a:pPr>
                      <a:r>
                        <a:t>완벽 준수</a:t>
                      </a:r>
                    </a:p>
                  </a:txBody>
                  <a:tcPr anchor="ctr">
                    <a:solidFill>
                      <a:srgbClr val="EFF6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93400" cy="54000"/>
          </a:xfrm>
          <a:prstGeom prst="rect">
            <a:avLst/>
          </a:prstGeom>
          <a:solidFill>
            <a:srgbClr val="0238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0000" y="432000"/>
            <a:ext cx="1980000" cy="251999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  <a:latin typeface="Malgun Gothic"/>
              </a:defRPr>
            </a:pPr>
            <a:r>
              <a:t>Part 3 — 프로젝트 관리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756000"/>
            <a:ext cx="864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F172A"/>
                </a:solidFill>
                <a:latin typeface="Malgun Gothic"/>
              </a:defRPr>
              <a:lnSpc>
                <a:spcPct val="120000"/>
              </a:lnSpc>
            </a:pPr>
            <a:r>
              <a:t>단계별 추진 일정</a:t>
            </a:r>
          </a:p>
        </p:txBody>
      </p:sp>
      <p:sp>
        <p:nvSpPr>
          <p:cNvPr id="5" name="Rectangle 4"/>
          <p:cNvSpPr/>
          <p:nvPr/>
        </p:nvSpPr>
        <p:spPr>
          <a:xfrm>
            <a:off x="540000" y="1188000"/>
            <a:ext cx="1440000" cy="28800"/>
          </a:xfrm>
          <a:prstGeom prst="rect">
            <a:avLst/>
          </a:prstGeom>
          <a:solidFill>
            <a:srgbClr val="0238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7273263"/>
            <a:ext cx="10693400" cy="28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0000" y="7309264"/>
            <a:ext cx="36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64748B"/>
                </a:solidFill>
                <a:latin typeface="Malgun Gothic"/>
              </a:defRPr>
              <a:lnSpc>
                <a:spcPct val="120000"/>
              </a:lnSpc>
            </a:pPr>
            <a:r>
              <a:t>FASTpass® SPKD — 전자여권 위·변조 검사 시스템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00000" y="7309264"/>
            <a:ext cx="216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64748B"/>
                </a:solidFill>
                <a:latin typeface="Malgun Gothic"/>
              </a:defRPr>
              <a:lnSpc>
                <a:spcPct val="120000"/>
              </a:lnSpc>
            </a:pPr>
            <a:r>
              <a:t>© 2026 SMARTCORE Inc.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0000" y="1440000"/>
            <a:ext cx="432000" cy="4320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Malgun Gothic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52000" y="1458000"/>
            <a:ext cx="432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F172A"/>
                </a:solidFill>
                <a:latin typeface="Malgun Gothic"/>
              </a:defRPr>
              <a:lnSpc>
                <a:spcPct val="120000"/>
              </a:lnSpc>
            </a:pPr>
            <a:r>
              <a:t>환경 구축 및 설치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680000" y="1458000"/>
            <a:ext cx="900000" cy="216000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 b="1">
                <a:solidFill>
                  <a:srgbClr val="FFFFFF"/>
                </a:solidFill>
                <a:latin typeface="Malgun Gothic"/>
              </a:defRPr>
            </a:pPr>
            <a:r>
              <a:t>1~2주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52000" y="169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64748B"/>
                </a:solidFill>
                <a:latin typeface="Malgun Gothic"/>
              </a:defRPr>
              <a:lnSpc>
                <a:spcPct val="140000"/>
              </a:lnSpc>
            </a:pPr>
            <a:r>
              <a:t>Docker/Podman 컨테이너 배포 · DB 스키마 초기화 · LDAP DIT 구성 · SSL 인증서 설정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0000" y="2340000"/>
            <a:ext cx="432000" cy="43200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Malgun Gothic"/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52000" y="2358000"/>
            <a:ext cx="432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F172A"/>
                </a:solidFill>
                <a:latin typeface="Malgun Gothic"/>
              </a:defRPr>
              <a:lnSpc>
                <a:spcPct val="120000"/>
              </a:lnSpc>
            </a:pPr>
            <a:r>
              <a:t>데이터 구축 및 검증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680000" y="2358000"/>
            <a:ext cx="900000" cy="216000"/>
          </a:xfrm>
          <a:prstGeom prst="round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 b="1">
                <a:solidFill>
                  <a:srgbClr val="FFFFFF"/>
                </a:solidFill>
                <a:latin typeface="Malgun Gothic"/>
              </a:defRPr>
            </a:pPr>
            <a:r>
              <a:t>2~4주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52000" y="259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64748B"/>
                </a:solidFill>
                <a:latin typeface="Malgun Gothic"/>
              </a:defRPr>
              <a:lnSpc>
                <a:spcPct val="140000"/>
              </a:lnSpc>
            </a:pPr>
            <a:r>
              <a:t>ICAO PKD 다운로드 · LDIF/Master List 업로드 · Trust Chain 검증 · DB↔LDAP 동기화 확인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0000" y="3240000"/>
            <a:ext cx="432000" cy="43200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Malgun Gothic"/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52000" y="3258000"/>
            <a:ext cx="432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F172A"/>
                </a:solidFill>
                <a:latin typeface="Malgun Gothic"/>
              </a:defRPr>
              <a:lnSpc>
                <a:spcPct val="120000"/>
              </a:lnSpc>
            </a:pPr>
            <a:r>
              <a:t>연동 및 시범 운영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680000" y="3258000"/>
            <a:ext cx="900000" cy="216000"/>
          </a:xfrm>
          <a:prstGeom prst="round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 b="1">
                <a:solidFill>
                  <a:srgbClr val="FFFFFF"/>
                </a:solidFill>
                <a:latin typeface="Malgun Gothic"/>
              </a:defRPr>
            </a:pPr>
            <a:r>
              <a:t>2~4주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52000" y="349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64748B"/>
                </a:solidFill>
                <a:latin typeface="Malgun Gothic"/>
              </a:defRPr>
              <a:lnSpc>
                <a:spcPct val="140000"/>
              </a:lnSpc>
            </a:pPr>
            <a:r>
              <a:t>출입국 심사 시스템 API 연동 · PA 검증 연동 테스트 · 관리자 교육 · 시범 운영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0000" y="4140000"/>
            <a:ext cx="432000" cy="43200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  <a:latin typeface="Malgun Gothic"/>
              </a:defRPr>
            </a:pPr>
            <a: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52000" y="4158000"/>
            <a:ext cx="432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F172A"/>
                </a:solidFill>
                <a:latin typeface="Malgun Gothic"/>
              </a:defRPr>
              <a:lnSpc>
                <a:spcPct val="120000"/>
              </a:lnSpc>
            </a:pPr>
            <a:r>
              <a:t>본격 운영 및 고도화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680000" y="4158000"/>
            <a:ext cx="900000" cy="216000"/>
          </a:xfrm>
          <a:prstGeom prst="round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700" b="1">
                <a:solidFill>
                  <a:srgbClr val="FFFFFF"/>
                </a:solidFill>
                <a:latin typeface="Malgun Gothic"/>
              </a:defRPr>
            </a:pPr>
            <a:r>
              <a:t>상시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52000" y="4391999"/>
            <a:ext cx="72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64748B"/>
                </a:solidFill>
                <a:latin typeface="Malgun Gothic"/>
              </a:defRPr>
              <a:lnSpc>
                <a:spcPct val="140000"/>
              </a:lnSpc>
            </a:pPr>
            <a:r>
              <a:t>ICAO PKD 정식 회원 등록 · 양자 협정 추진 · 서비스 범위 단계적 확장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800000" y="5112000"/>
            <a:ext cx="5760000" cy="288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980000" y="5148000"/>
            <a:ext cx="540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2563EB"/>
                </a:solidFill>
                <a:latin typeface="Malgun Gothic"/>
              </a:defRPr>
              <a:lnSpc>
                <a:spcPct val="120000"/>
              </a:lnSpc>
            </a:pPr>
            <a:r>
              <a:t>Phase 1~3 총 소요 기간: 6~10주 (발주처 환경 및 요구사항에 따라 조정)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93400" cy="54000"/>
          </a:xfrm>
          <a:prstGeom prst="rect">
            <a:avLst/>
          </a:prstGeom>
          <a:solidFill>
            <a:srgbClr val="0238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0000" y="432000"/>
            <a:ext cx="1980000" cy="251999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  <a:latin typeface="Malgun Gothic"/>
              </a:defRPr>
            </a:pPr>
            <a:r>
              <a:t>Part 3 — 운영 지원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756000"/>
            <a:ext cx="864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F172A"/>
                </a:solidFill>
                <a:latin typeface="Malgun Gothic"/>
              </a:defRPr>
              <a:lnSpc>
                <a:spcPct val="120000"/>
              </a:lnSpc>
            </a:pPr>
            <a:r>
              <a:t>유지보수 및 운영 지원 체계</a:t>
            </a:r>
          </a:p>
        </p:txBody>
      </p:sp>
      <p:sp>
        <p:nvSpPr>
          <p:cNvPr id="5" name="Rectangle 4"/>
          <p:cNvSpPr/>
          <p:nvPr/>
        </p:nvSpPr>
        <p:spPr>
          <a:xfrm>
            <a:off x="540000" y="1188000"/>
            <a:ext cx="1440000" cy="28800"/>
          </a:xfrm>
          <a:prstGeom prst="rect">
            <a:avLst/>
          </a:prstGeom>
          <a:solidFill>
            <a:srgbClr val="0238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7273263"/>
            <a:ext cx="10693400" cy="28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0000" y="7309264"/>
            <a:ext cx="36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64748B"/>
                </a:solidFill>
                <a:latin typeface="Malgun Gothic"/>
              </a:defRPr>
              <a:lnSpc>
                <a:spcPct val="120000"/>
              </a:lnSpc>
            </a:pPr>
            <a:r>
              <a:t>FASTpass® SPKD — 전자여권 위·변조 검사 시스템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00000" y="7309264"/>
            <a:ext cx="216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64748B"/>
                </a:solidFill>
                <a:latin typeface="Malgun Gothic"/>
              </a:defRPr>
              <a:lnSpc>
                <a:spcPct val="120000"/>
              </a:lnSpc>
            </a:pPr>
            <a:r>
              <a:t>© 2026 SMARTCORE Inc.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0000" y="1440000"/>
            <a:ext cx="2808000" cy="432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40000" y="1483200"/>
            <a:ext cx="2808000" cy="1368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0000" y="1620000"/>
            <a:ext cx="2448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F172A"/>
                </a:solidFill>
                <a:latin typeface="Malgun Gothic"/>
              </a:defRPr>
              <a:lnSpc>
                <a:spcPct val="120000"/>
              </a:lnSpc>
            </a:pPr>
            <a:r>
              <a:t>상시 모니터링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0000" y="1872000"/>
            <a:ext cx="2448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64748B"/>
                </a:solidFill>
                <a:latin typeface="Malgun Gothic"/>
              </a:defRPr>
              <a:lnSpc>
                <a:spcPct val="150000"/>
              </a:lnSpc>
            </a:pPr>
            <a:r>
              <a:t>시스템 메트릭 실시간 수집</a:t>
            </a:r>
            <a:br/>
            <a:r>
              <a:t>서비스 헬스체크 자동화</a:t>
            </a:r>
            <a:br/>
            <a:r>
              <a:t>SSE 기반 실시간 알림</a:t>
            </a:r>
            <a:br/>
            <a:r>
              <a:t>DB↔LDAP 동기화 대시보드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00000" y="1440000"/>
            <a:ext cx="2808000" cy="432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600000" y="1483200"/>
            <a:ext cx="2808000" cy="1368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80000" y="1620000"/>
            <a:ext cx="2448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F172A"/>
                </a:solidFill>
                <a:latin typeface="Malgun Gothic"/>
              </a:defRPr>
              <a:lnSpc>
                <a:spcPct val="120000"/>
              </a:lnSpc>
            </a:pPr>
            <a:r>
              <a:t>장애 대응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80000" y="1872000"/>
            <a:ext cx="2448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64748B"/>
                </a:solidFill>
                <a:latin typeface="Malgun Gothic"/>
              </a:defRPr>
              <a:lnSpc>
                <a:spcPct val="150000"/>
              </a:lnSpc>
            </a:pPr>
            <a:r>
              <a:t>장애 등급별 대응 절차 (4단계)</a:t>
            </a:r>
            <a:br/>
            <a:r>
              <a:t>자동 재시도 및 복구 메커니즘</a:t>
            </a:r>
            <a:br/>
            <a:r>
              <a:t>LDAP 장애 시 DB-only 모드</a:t>
            </a:r>
            <a:br/>
            <a:r>
              <a:t>Reconciliation 자동 복구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660000" y="1440000"/>
            <a:ext cx="2808000" cy="432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660000" y="1483200"/>
            <a:ext cx="2808000" cy="1368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40000" y="1620000"/>
            <a:ext cx="2448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F172A"/>
                </a:solidFill>
                <a:latin typeface="Malgun Gothic"/>
              </a:defRPr>
              <a:lnSpc>
                <a:spcPct val="120000"/>
              </a:lnSpc>
            </a:pPr>
            <a:r>
              <a:t>운영 보고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40000" y="1872000"/>
            <a:ext cx="2448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64748B"/>
                </a:solidFill>
                <a:latin typeface="Malgun Gothic"/>
              </a:defRPr>
              <a:lnSpc>
                <a:spcPct val="150000"/>
              </a:lnSpc>
            </a:pPr>
            <a:r>
              <a:t>인증서 현황 보고서 자동 생성</a:t>
            </a:r>
            <a:br/>
            <a:r>
              <a:t>검증 결과 통계 보고서</a:t>
            </a:r>
            <a:br/>
            <a:r>
              <a:t>감사 로그 통계 제공</a:t>
            </a:r>
            <a:br/>
            <a:r>
              <a:t>월간/분기 운영 보고서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0000" y="3060000"/>
            <a:ext cx="432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F172A"/>
                </a:solidFill>
                <a:latin typeface="Malgun Gothic"/>
              </a:defRPr>
              <a:lnSpc>
                <a:spcPct val="120000"/>
              </a:lnSpc>
            </a:pPr>
            <a:r>
              <a:t>SLA 수준</a:t>
            </a:r>
          </a:p>
        </p:txBody>
      </p:sp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540000" y="3276000"/>
          <a:ext cx="4140000" cy="12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0000"/>
                <a:gridCol w="2160000"/>
              </a:tblGrid>
              <a:tr h="252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항목</a:t>
                      </a:r>
                    </a:p>
                  </a:txBody>
                  <a:tcPr anchor="ctr">
                    <a:solidFill>
                      <a:srgbClr val="0238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목표</a:t>
                      </a:r>
                    </a:p>
                  </a:txBody>
                  <a:tcPr anchor="ctr">
                    <a:solidFill>
                      <a:srgbClr val="02385E"/>
                    </a:solidFill>
                  </a:tcPr>
                </a:tc>
              </a:tr>
              <a:tr h="252000"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시스템 가용성</a:t>
                      </a:r>
                    </a:p>
                  </a:txBody>
                  <a:tcPr anchor="ctr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59669"/>
                          </a:solidFill>
                          <a:latin typeface="Malgun Gothic"/>
                        </a:defRPr>
                      </a:pPr>
                      <a:r>
                        <a:t>99.9% 이상</a:t>
                      </a:r>
                    </a:p>
                  </a:txBody>
                  <a:tcPr anchor="ctr">
                    <a:solidFill>
                      <a:srgbClr val="EFF6FF"/>
                    </a:solidFill>
                  </a:tcPr>
                </a:tc>
              </a:tr>
              <a:tr h="252000"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PA 검증 응답 시간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59669"/>
                          </a:solidFill>
                          <a:latin typeface="Malgun Gothic"/>
                        </a:defRPr>
                      </a:pPr>
                      <a:r>
                        <a:t>300ms 이내</a:t>
                      </a:r>
                    </a:p>
                  </a:txBody>
                  <a:tcPr anchor="ctr"/>
                </a:tc>
              </a:tr>
              <a:tr h="252000"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장애 초기 대응</a:t>
                      </a:r>
                    </a:p>
                  </a:txBody>
                  <a:tcPr anchor="ctr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59669"/>
                          </a:solidFill>
                          <a:latin typeface="Malgun Gothic"/>
                        </a:defRPr>
                      </a:pPr>
                      <a:r>
                        <a:t>30분 이내</a:t>
                      </a:r>
                    </a:p>
                  </a:txBody>
                  <a:tcPr anchor="ctr">
                    <a:solidFill>
                      <a:srgbClr val="EFF6FF"/>
                    </a:solidFill>
                  </a:tcPr>
                </a:tc>
              </a:tr>
              <a:tr h="252000"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ICAO 인증서 갱신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59669"/>
                          </a:solidFill>
                          <a:latin typeface="Malgun Gothic"/>
                        </a:defRPr>
                      </a:pPr>
                      <a:r>
                        <a:t>매일 자동 체크</a:t>
                      </a: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23" name="TextBox 22"/>
          <p:cNvSpPr txBox="1"/>
          <p:nvPr/>
        </p:nvSpPr>
        <p:spPr>
          <a:xfrm>
            <a:off x="5040000" y="3060000"/>
            <a:ext cx="432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F172A"/>
                </a:solidFill>
                <a:latin typeface="Malgun Gothic"/>
              </a:defRPr>
              <a:lnSpc>
                <a:spcPct val="120000"/>
              </a:lnSpc>
            </a:pPr>
            <a:r>
              <a:t>업데이트 체계</a:t>
            </a:r>
          </a:p>
        </p:txBody>
      </p:sp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5040000" y="3276000"/>
          <a:ext cx="4140000" cy="12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0000"/>
                <a:gridCol w="2160000"/>
              </a:tblGrid>
              <a:tr h="252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항목</a:t>
                      </a:r>
                    </a:p>
                  </a:txBody>
                  <a:tcPr anchor="ctr">
                    <a:solidFill>
                      <a:srgbClr val="0238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주기</a:t>
                      </a:r>
                    </a:p>
                  </a:txBody>
                  <a:tcPr anchor="ctr">
                    <a:solidFill>
                      <a:srgbClr val="02385E"/>
                    </a:solidFill>
                  </a:tcPr>
                </a:tc>
              </a:tr>
              <a:tr h="252000"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ICAO 표준 변경 대응</a:t>
                      </a:r>
                    </a:p>
                  </a:txBody>
                  <a:tcPr anchor="ctr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즉시 반영</a:t>
                      </a:r>
                    </a:p>
                  </a:txBody>
                  <a:tcPr anchor="ctr">
                    <a:solidFill>
                      <a:srgbClr val="EFF6FF"/>
                    </a:solidFill>
                  </a:tcPr>
                </a:tc>
              </a:tr>
              <a:tr h="252000"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보안 패치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발견 즉시 적용</a:t>
                      </a:r>
                    </a:p>
                  </a:txBody>
                  <a:tcPr anchor="ctr"/>
                </a:tc>
              </a:tr>
              <a:tr h="252000"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기능 업데이트</a:t>
                      </a:r>
                    </a:p>
                  </a:txBody>
                  <a:tcPr anchor="ctr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분기별 릴리스</a:t>
                      </a:r>
                    </a:p>
                  </a:txBody>
                  <a:tcPr anchor="ctr">
                    <a:solidFill>
                      <a:srgbClr val="EFF6FF"/>
                    </a:solidFill>
                  </a:tcPr>
                </a:tc>
              </a:tr>
              <a:tr h="252000">
                <a:tc>
                  <a:txBody>
                    <a:bodyPr/>
                    <a:lstStyle/>
                    <a:p>
                      <a:pPr algn="l">
                        <a:defRPr sz="800" b="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DB 스키마 마이그레이션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무중단 적용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93400" cy="54000"/>
          </a:xfrm>
          <a:prstGeom prst="rect">
            <a:avLst/>
          </a:prstGeom>
          <a:solidFill>
            <a:srgbClr val="0238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0000" y="432000"/>
            <a:ext cx="1980000" cy="251999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  <a:latin typeface="Malgun Gothic"/>
              </a:defRPr>
            </a:pPr>
            <a:r>
              <a:t>Part 3 — 기대효과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756000"/>
            <a:ext cx="864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F172A"/>
                </a:solidFill>
                <a:latin typeface="Malgun Gothic"/>
              </a:defRPr>
              <a:lnSpc>
                <a:spcPct val="120000"/>
              </a:lnSpc>
            </a:pPr>
            <a:r>
              <a:t>도입 기대효과</a:t>
            </a:r>
          </a:p>
        </p:txBody>
      </p:sp>
      <p:sp>
        <p:nvSpPr>
          <p:cNvPr id="5" name="Rectangle 4"/>
          <p:cNvSpPr/>
          <p:nvPr/>
        </p:nvSpPr>
        <p:spPr>
          <a:xfrm>
            <a:off x="540000" y="1188000"/>
            <a:ext cx="1440000" cy="28800"/>
          </a:xfrm>
          <a:prstGeom prst="rect">
            <a:avLst/>
          </a:prstGeom>
          <a:solidFill>
            <a:srgbClr val="0238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7273263"/>
            <a:ext cx="10693400" cy="28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0000" y="7309264"/>
            <a:ext cx="36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64748B"/>
                </a:solidFill>
                <a:latin typeface="Malgun Gothic"/>
              </a:defRPr>
              <a:lnSpc>
                <a:spcPct val="120000"/>
              </a:lnSpc>
            </a:pPr>
            <a:r>
              <a:t>FASTpass® SPKD — 전자여권 위·변조 검사 시스템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00000" y="7309264"/>
            <a:ext cx="216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64748B"/>
                </a:solidFill>
                <a:latin typeface="Malgun Gothic"/>
              </a:defRPr>
              <a:lnSpc>
                <a:spcPct val="120000"/>
              </a:lnSpc>
            </a:pPr>
            <a:r>
              <a:t>© 2026 SMARTCORE Inc.</a:t>
            </a:r>
          </a:p>
        </p:txBody>
      </p:sp>
      <p:sp>
        <p:nvSpPr>
          <p:cNvPr id="9" name="Rectangle 8"/>
          <p:cNvSpPr/>
          <p:nvPr/>
        </p:nvSpPr>
        <p:spPr>
          <a:xfrm>
            <a:off x="540000" y="1440000"/>
            <a:ext cx="2052000" cy="36000"/>
          </a:xfrm>
          <a:prstGeom prst="rect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40000" y="1475999"/>
            <a:ext cx="2052000" cy="100799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8000" y="1548000"/>
            <a:ext cx="1835999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059669"/>
                </a:solidFill>
                <a:latin typeface="Malgun Gothic"/>
              </a:defRPr>
              <a:lnSpc>
                <a:spcPct val="120000"/>
              </a:lnSpc>
            </a:pPr>
            <a:r>
              <a:t>99.9%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8000" y="1872000"/>
            <a:ext cx="1835999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F172A"/>
                </a:solidFill>
                <a:latin typeface="Malgun Gothic"/>
              </a:defRPr>
              <a:lnSpc>
                <a:spcPct val="120000"/>
              </a:lnSpc>
            </a:pPr>
            <a:r>
              <a:t>위조 탐지율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8000" y="2088000"/>
            <a:ext cx="1835999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64748B"/>
                </a:solidFill>
                <a:latin typeface="Malgun Gothic"/>
              </a:defRPr>
              <a:lnSpc>
                <a:spcPct val="120000"/>
              </a:lnSpc>
            </a:pPr>
            <a:r>
              <a:t>3세대 정밀 위조까지 자동 탐지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72000" y="1440000"/>
            <a:ext cx="2052000" cy="3600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772000" y="1475999"/>
            <a:ext cx="2052000" cy="100799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880000" y="1548000"/>
            <a:ext cx="1835999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2563EB"/>
                </a:solidFill>
                <a:latin typeface="Malgun Gothic"/>
              </a:defRPr>
              <a:lnSpc>
                <a:spcPct val="120000"/>
              </a:lnSpc>
            </a:pPr>
            <a:r>
              <a:t>90%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80000" y="1872000"/>
            <a:ext cx="1835999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F172A"/>
                </a:solidFill>
                <a:latin typeface="Malgun Gothic"/>
              </a:defRPr>
              <a:lnSpc>
                <a:spcPct val="120000"/>
              </a:lnSpc>
            </a:pPr>
            <a:r>
              <a:t>운영 비용 절감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80000" y="2088000"/>
            <a:ext cx="1835999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64748B"/>
                </a:solidFill>
                <a:latin typeface="Malgun Gothic"/>
              </a:defRPr>
              <a:lnSpc>
                <a:spcPct val="120000"/>
              </a:lnSpc>
            </a:pPr>
            <a:r>
              <a:t>수동 작업 자동화, 인력 의존도 최소화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04000" y="1440000"/>
            <a:ext cx="2052000" cy="36000"/>
          </a:xfrm>
          <a:prstGeom prst="rect">
            <a:avLst/>
          </a:prstGeom>
          <a:solidFill>
            <a:srgbClr val="D9770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5004000" y="1475999"/>
            <a:ext cx="2052000" cy="100799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12000" y="1548000"/>
            <a:ext cx="1835999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D97706"/>
                </a:solidFill>
                <a:latin typeface="Malgun Gothic"/>
              </a:defRPr>
              <a:lnSpc>
                <a:spcPct val="120000"/>
              </a:lnSpc>
            </a:pPr>
            <a:r>
              <a:t>1,200h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12000" y="1872000"/>
            <a:ext cx="1835999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F172A"/>
                </a:solidFill>
                <a:latin typeface="Malgun Gothic"/>
              </a:defRPr>
              <a:lnSpc>
                <a:spcPct val="120000"/>
              </a:lnSpc>
            </a:pPr>
            <a:r>
              <a:t>연간 절감 시간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12000" y="2088000"/>
            <a:ext cx="1835999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64748B"/>
                </a:solidFill>
                <a:latin typeface="Malgun Gothic"/>
              </a:defRPr>
              <a:lnSpc>
                <a:spcPct val="120000"/>
              </a:lnSpc>
            </a:pPr>
            <a:r>
              <a:t>일 3.5시간 → 10분 인증서 관리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236000" y="1440000"/>
            <a:ext cx="2052000" cy="3600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236000" y="1475999"/>
            <a:ext cx="2052000" cy="100799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44000" y="1548000"/>
            <a:ext cx="1835999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800" b="1">
                <a:solidFill>
                  <a:srgbClr val="7C3AED"/>
                </a:solidFill>
                <a:latin typeface="Malgun Gothic"/>
              </a:defRPr>
              <a:lnSpc>
                <a:spcPct val="120000"/>
              </a:lnSpc>
            </a:pPr>
            <a:r>
              <a:t>100%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44000" y="1872000"/>
            <a:ext cx="1835999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900" b="1">
                <a:solidFill>
                  <a:srgbClr val="0F172A"/>
                </a:solidFill>
                <a:latin typeface="Malgun Gothic"/>
              </a:defRPr>
              <a:lnSpc>
                <a:spcPct val="120000"/>
              </a:lnSpc>
            </a:pPr>
            <a:r>
              <a:t>ICAO 준수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44000" y="2088000"/>
            <a:ext cx="1835999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64748B"/>
                </a:solidFill>
                <a:latin typeface="Malgun Gothic"/>
              </a:defRPr>
              <a:lnSpc>
                <a:spcPct val="120000"/>
              </a:lnSpc>
            </a:pPr>
            <a:r>
              <a:t>Doc 9303 완벽 준수, 국제 요구사항 충족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0000" y="2808000"/>
            <a:ext cx="432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F172A"/>
                </a:solidFill>
                <a:latin typeface="Malgun Gothic"/>
              </a:defRPr>
              <a:lnSpc>
                <a:spcPct val="120000"/>
              </a:lnSpc>
            </a:pPr>
            <a:r>
              <a:t>정량적 효과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0000" y="3060000"/>
            <a:ext cx="432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0F172A"/>
                </a:solidFill>
                <a:latin typeface="Malgun Gothic"/>
              </a:defRPr>
              <a:lnSpc>
                <a:spcPct val="120000"/>
              </a:lnSpc>
            </a:pPr>
            <a:r>
              <a:t>✓ 출입국 심사 1건당 PA 검증 추가 시간: 0.3초 이내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0000" y="3311999"/>
            <a:ext cx="432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0F172A"/>
                </a:solidFill>
                <a:latin typeface="Malgun Gothic"/>
              </a:defRPr>
              <a:lnSpc>
                <a:spcPct val="120000"/>
              </a:lnSpc>
            </a:pPr>
            <a:r>
              <a:t>✓ 인증서 업데이트 자동화: 24시간 무중단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0000" y="3564000"/>
            <a:ext cx="432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0F172A"/>
                </a:solidFill>
                <a:latin typeface="Malgun Gothic"/>
              </a:defRPr>
              <a:lnSpc>
                <a:spcPct val="120000"/>
              </a:lnSpc>
            </a:pPr>
            <a:r>
              <a:t>✓ 위조 여권 적발률 향상: 물리 검사 대비 10배+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0000" y="3816000"/>
            <a:ext cx="432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0F172A"/>
                </a:solidFill>
                <a:latin typeface="Malgun Gothic"/>
              </a:defRPr>
              <a:lnSpc>
                <a:spcPct val="120000"/>
              </a:lnSpc>
            </a:pPr>
            <a:r>
              <a:t>✓ 투자금 회수 기간: 6~12개월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40000" y="2808000"/>
            <a:ext cx="432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1000" b="1">
                <a:solidFill>
                  <a:srgbClr val="0F172A"/>
                </a:solidFill>
                <a:latin typeface="Malgun Gothic"/>
              </a:defRPr>
              <a:lnSpc>
                <a:spcPct val="120000"/>
              </a:lnSpc>
            </a:pPr>
            <a:r>
              <a:t>정성적 효과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40000" y="3060000"/>
            <a:ext cx="432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2563EB"/>
                </a:solidFill>
                <a:latin typeface="Malgun Gothic"/>
              </a:defRPr>
              <a:lnSpc>
                <a:spcPct val="120000"/>
              </a:lnSpc>
            </a:pPr>
            <a:r>
              <a:t>◆ 국가 출입국 관리 국제 신뢰도 향상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40000" y="3311999"/>
            <a:ext cx="432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2563EB"/>
                </a:solidFill>
                <a:latin typeface="Malgun Gothic"/>
              </a:defRPr>
              <a:lnSpc>
                <a:spcPct val="120000"/>
              </a:lnSpc>
            </a:pPr>
            <a:r>
              <a:t>◆ 불법 입국·테러 사전 차단 역량 강화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40000" y="3564000"/>
            <a:ext cx="432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2563EB"/>
                </a:solidFill>
                <a:latin typeface="Malgun Gothic"/>
              </a:defRPr>
              <a:lnSpc>
                <a:spcPct val="120000"/>
              </a:lnSpc>
            </a:pPr>
            <a:r>
              <a:t>◆ SES 대상국 추가 확대 기반 마련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40000" y="3816000"/>
            <a:ext cx="432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2563EB"/>
                </a:solidFill>
                <a:latin typeface="Malgun Gothic"/>
              </a:defRPr>
              <a:lnSpc>
                <a:spcPct val="120000"/>
              </a:lnSpc>
            </a:pPr>
            <a:r>
              <a:t>◆ 개인정보보호 법적 리스크 해소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693400" cy="54000"/>
          </a:xfrm>
          <a:prstGeom prst="rect">
            <a:avLst/>
          </a:prstGeom>
          <a:solidFill>
            <a:srgbClr val="0238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540000" y="432000"/>
            <a:ext cx="1980000" cy="251999"/>
          </a:xfrm>
          <a:prstGeom prst="round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1">
                <a:solidFill>
                  <a:srgbClr val="FFFFFF"/>
                </a:solidFill>
                <a:latin typeface="Malgun Gothic"/>
              </a:defRPr>
            </a:pPr>
            <a:r>
              <a:t>Part 3 — 차별화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0000" y="756000"/>
            <a:ext cx="86400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2200" b="1">
                <a:solidFill>
                  <a:srgbClr val="0F172A"/>
                </a:solidFill>
                <a:latin typeface="Malgun Gothic"/>
              </a:defRPr>
              <a:lnSpc>
                <a:spcPct val="120000"/>
              </a:lnSpc>
            </a:pPr>
            <a:r>
              <a:t>차별화 요소</a:t>
            </a:r>
          </a:p>
        </p:txBody>
      </p:sp>
      <p:sp>
        <p:nvSpPr>
          <p:cNvPr id="5" name="Rectangle 4"/>
          <p:cNvSpPr/>
          <p:nvPr/>
        </p:nvSpPr>
        <p:spPr>
          <a:xfrm>
            <a:off x="540000" y="1188000"/>
            <a:ext cx="1440000" cy="28800"/>
          </a:xfrm>
          <a:prstGeom prst="rect">
            <a:avLst/>
          </a:prstGeom>
          <a:solidFill>
            <a:srgbClr val="0238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7273263"/>
            <a:ext cx="10693400" cy="28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0000" y="7309264"/>
            <a:ext cx="36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64748B"/>
                </a:solidFill>
                <a:latin typeface="Malgun Gothic"/>
              </a:defRPr>
              <a:lnSpc>
                <a:spcPct val="120000"/>
              </a:lnSpc>
            </a:pPr>
            <a:r>
              <a:t>FASTpass® SPKD — 전자여권 위·변조 검사 시스템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200000" y="7309264"/>
            <a:ext cx="216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  <a:defRPr sz="700" b="0">
                <a:solidFill>
                  <a:srgbClr val="64748B"/>
                </a:solidFill>
                <a:latin typeface="Malgun Gothic"/>
              </a:defRPr>
              <a:lnSpc>
                <a:spcPct val="120000"/>
              </a:lnSpc>
            </a:pPr>
            <a:r>
              <a:t>© 2026 SMARTCORE Inc.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40000" y="1368000"/>
          <a:ext cx="8640000" cy="27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0000"/>
                <a:gridCol w="3240000"/>
                <a:gridCol w="3600000"/>
              </a:tblGrid>
              <a:tr h="300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평가 항목</a:t>
                      </a:r>
                    </a:p>
                  </a:txBody>
                  <a:tcPr anchor="ctr">
                    <a:solidFill>
                      <a:srgbClr val="0238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일반 PKD 솔루션</a:t>
                      </a:r>
                    </a:p>
                  </a:txBody>
                  <a:tcPr anchor="ctr">
                    <a:solidFill>
                      <a:srgbClr val="02385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algun Gothic"/>
                        </a:defRPr>
                      </a:pPr>
                      <a:r>
                        <a:t>FASTpass® SPKD</a:t>
                      </a:r>
                    </a:p>
                  </a:txBody>
                  <a:tcPr anchor="ctr">
                    <a:solidFill>
                      <a:srgbClr val="02385E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ICAO 9303 준수 범위</a:t>
                      </a:r>
                    </a:p>
                  </a:txBody>
                  <a:tcPr anchor="ctr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64748B"/>
                          </a:solidFill>
                          <a:latin typeface="Malgun Gothic"/>
                        </a:defRPr>
                      </a:pPr>
                      <a:r>
                        <a:t>부분 구현 (PA 검증 일부 누락)</a:t>
                      </a:r>
                    </a:p>
                  </a:txBody>
                  <a:tcPr anchor="ctr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2563EB"/>
                          </a:solidFill>
                          <a:latin typeface="Malgun Gothic"/>
                        </a:defRPr>
                      </a:pPr>
                      <a:r>
                        <a:t>Part 10 &amp; 11 완벽 준수 (8단계)</a:t>
                      </a:r>
                    </a:p>
                  </a:txBody>
                  <a:tcPr anchor="ctr">
                    <a:solidFill>
                      <a:srgbClr val="EFF6FF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인증서 검색 속도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64748B"/>
                          </a:solidFill>
                          <a:latin typeface="Malgun Gothic"/>
                        </a:defRPr>
                      </a:pPr>
                      <a:r>
                        <a:t>5~10초 이상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2563EB"/>
                          </a:solidFill>
                          <a:latin typeface="Malgun Gothic"/>
                        </a:defRPr>
                      </a:pPr>
                      <a:r>
                        <a:t>40ms (1,975배 개선)</a:t>
                      </a:r>
                    </a:p>
                  </a:txBody>
                  <a:tcPr anchor="ctr"/>
                </a:tc>
              </a:tr>
              <a:tr h="300000"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Oracle 네이티브 지원</a:t>
                      </a:r>
                    </a:p>
                  </a:txBody>
                  <a:tcPr anchor="ctr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64748B"/>
                          </a:solidFill>
                          <a:latin typeface="Malgun Gothic"/>
                        </a:defRPr>
                      </a:pPr>
                      <a:r>
                        <a:t>단일 DB 종속 또는 미지원</a:t>
                      </a:r>
                    </a:p>
                  </a:txBody>
                  <a:tcPr anchor="ctr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2563EB"/>
                          </a:solidFill>
                          <a:latin typeface="Malgun Gothic"/>
                        </a:defRPr>
                      </a:pPr>
                      <a:r>
                        <a:t>Oracle RDBMS 완벽 지원</a:t>
                      </a:r>
                    </a:p>
                  </a:txBody>
                  <a:tcPr anchor="ctr">
                    <a:solidFill>
                      <a:srgbClr val="EFF6FF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정밀 분석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64748B"/>
                          </a:solidFill>
                          <a:latin typeface="Malgun Gothic"/>
                        </a:defRPr>
                      </a:pPr>
                      <a:r>
                        <a:t>미지원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2563EB"/>
                          </a:solidFill>
                          <a:latin typeface="Malgun Gothic"/>
                        </a:defRPr>
                      </a:pPr>
                      <a:r>
                        <a:t>인증서 직접 파싱·검증, 국가별 통계</a:t>
                      </a:r>
                    </a:p>
                  </a:txBody>
                  <a:tcPr anchor="ctr"/>
                </a:tc>
              </a:tr>
              <a:tr h="300000"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개인정보 암호화</a:t>
                      </a:r>
                    </a:p>
                  </a:txBody>
                  <a:tcPr anchor="ctr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64748B"/>
                          </a:solidFill>
                          <a:latin typeface="Malgun Gothic"/>
                        </a:defRPr>
                      </a:pPr>
                      <a:r>
                        <a:t>미구현 또는 부분</a:t>
                      </a:r>
                    </a:p>
                  </a:txBody>
                  <a:tcPr anchor="ctr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2563EB"/>
                          </a:solidFill>
                          <a:latin typeface="Malgun Gothic"/>
                        </a:defRPr>
                      </a:pPr>
                      <a:r>
                        <a:t>AES-256-GCM 인증 암호화</a:t>
                      </a:r>
                    </a:p>
                  </a:txBody>
                  <a:tcPr anchor="ctr">
                    <a:solidFill>
                      <a:srgbClr val="EFF6FF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아키텍처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64748B"/>
                          </a:solidFill>
                          <a:latin typeface="Malgun Gothic"/>
                        </a:defRPr>
                      </a:pPr>
                      <a:r>
                        <a:t>모노리식 (확장 제한)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2563EB"/>
                          </a:solidFill>
                          <a:latin typeface="Malgun Gothic"/>
                        </a:defRPr>
                      </a:pPr>
                      <a:r>
                        <a:t>마이크로서비스 4개 독립 서비스</a:t>
                      </a:r>
                    </a:p>
                  </a:txBody>
                  <a:tcPr anchor="ctr"/>
                </a:tc>
              </a:tr>
              <a:tr h="300000"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자동화 수준</a:t>
                      </a:r>
                    </a:p>
                  </a:txBody>
                  <a:tcPr anchor="ctr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64748B"/>
                          </a:solidFill>
                          <a:latin typeface="Malgun Gothic"/>
                        </a:defRPr>
                      </a:pPr>
                      <a:r>
                        <a:t>수동 개입 필요</a:t>
                      </a:r>
                    </a:p>
                  </a:txBody>
                  <a:tcPr anchor="ctr">
                    <a:solidFill>
                      <a:srgbClr val="EFF6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2563EB"/>
                          </a:solidFill>
                          <a:latin typeface="Malgun Gothic"/>
                        </a:defRPr>
                      </a:pPr>
                      <a:r>
                        <a:t>완전 자동 (업로드·검증·동기화·알림)</a:t>
                      </a:r>
                    </a:p>
                  </a:txBody>
                  <a:tcPr anchor="ctr">
                    <a:solidFill>
                      <a:srgbClr val="EFF6FF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0F172A"/>
                          </a:solidFill>
                          <a:latin typeface="Malgun Gothic"/>
                        </a:defRPr>
                      </a:pPr>
                      <a:r>
                        <a:t>운영 환경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64748B"/>
                          </a:solidFill>
                          <a:latin typeface="Malgun Gothic"/>
                        </a:defRPr>
                      </a:pPr>
                      <a:r>
                        <a:t>특정 OS 종속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2563EB"/>
                          </a:solidFill>
                          <a:latin typeface="Malgun Gothic"/>
                        </a:defRPr>
                      </a:pPr>
                      <a:r>
                        <a:t>Docker/Podman 컨테이너, RHEL 9 검증</a:t>
                      </a:r>
                    </a:p>
                  </a:txBody>
                  <a:tcPr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238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0" y="1620000"/>
            <a:ext cx="106934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3600" b="1">
                <a:solidFill>
                  <a:srgbClr val="FFFFFF"/>
                </a:solidFill>
                <a:latin typeface="Malgun Gothic"/>
              </a:defRPr>
              <a:lnSpc>
                <a:spcPct val="120000"/>
              </a:lnSpc>
            </a:pPr>
            <a:r>
              <a:t>감사합니다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2520000"/>
            <a:ext cx="10693400" cy="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94A3B8"/>
                </a:solidFill>
                <a:latin typeface="Malgun Gothic"/>
              </a:defRPr>
              <a:lnSpc>
                <a:spcPct val="120000"/>
              </a:lnSpc>
            </a:pPr>
            <a:r>
              <a:t>대한민국 출입국 보안의 새로운 표준을 제안합니다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3420000"/>
            <a:ext cx="10693400" cy="7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94A3B8"/>
                </a:solidFill>
                <a:latin typeface="Malgun Gothic"/>
              </a:defRPr>
              <a:lnSpc>
                <a:spcPct val="170000"/>
              </a:lnSpc>
            </a:pPr>
            <a:r>
              <a:t>제안사: (주)스마트코어</a:t>
            </a:r>
            <a:br/>
            <a:r>
              <a:t>Email: sales@smartcoreinc.com</a:t>
            </a:r>
            <a:br/>
            <a:r>
              <a:t>Web: www.smartcoreinc.com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440000" y="4860000"/>
            <a:ext cx="6480000" cy="324000"/>
          </a:xfrm>
          <a:prstGeom prst="roundRect">
            <a:avLst/>
          </a:prstGeom>
          <a:solidFill>
            <a:srgbClr val="0A4F7A"/>
          </a:solidFill>
          <a:ln w="12700">
            <a:solidFill>
              <a:srgbClr val="1A6F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800" b="0">
                <a:solidFill>
                  <a:srgbClr val="FFFFFF"/>
                </a:solidFill>
                <a:latin typeface="Malgun Gothic"/>
              </a:defRPr>
            </a:pPr>
            <a:r>
              <a:t>ICAO Doc 9303 완벽 준수   |   개인정보보호법 충족   |   KCMVP/CC 인증 대응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5580000"/>
            <a:ext cx="106934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  <a:defRPr sz="800" b="0">
                <a:solidFill>
                  <a:srgbClr val="64748B"/>
                </a:solidFill>
                <a:latin typeface="Malgun Gothic"/>
              </a:defRPr>
              <a:lnSpc>
                <a:spcPct val="120000"/>
              </a:lnSpc>
            </a:pPr>
            <a:r>
              <a:t>(주)스마트코어 — FASTpass® SPKD v2.36.0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'1.0' encoding='UTF-8' standalone='yes'?>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94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AEBDFB1A-9CA0-4EDD-8146-E274B64C68EA}">
  <we:reference id="wa200010001" version="1.0.0.1" store="ko-KR" storeType="OMEX"/>
  <we:alternateReferences>
    <we:reference id="WA200010001" version="1.0.0.1" store="WA200010001" storeType="OMEX"/>
  </we:alternateReferences>
  <we:properties>
    <we:property name="Office.AutoShowTaskpaneWithDocument" value="true"/>
  </we:properties>
  <we:bindings/>
  <we:snapshot xmlns:r="http://schemas.openxmlformats.org/officeDocument/2006/relationships"/>
</we:webextension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81EAD90FDAE05D4DAC9A3F88F835C177" ma:contentTypeVersion="8" ma:contentTypeDescription="새 문서를 만듭니다." ma:contentTypeScope="" ma:versionID="06014b2147b658332698e58b48b4027d">
  <xsd:schema xmlns:xsd="http://www.w3.org/2001/XMLSchema" xmlns:xs="http://www.w3.org/2001/XMLSchema" xmlns:p="http://schemas.microsoft.com/office/2006/metadata/properties" xmlns:ns2="27e6e2fa-2090-445a-9e27-48e672f15d5a" targetNamespace="http://schemas.microsoft.com/office/2006/metadata/properties" ma:root="true" ma:fieldsID="a32e59014de644e49168aada97fdb384" ns2:_="">
    <xsd:import namespace="27e6e2fa-2090-445a-9e27-48e672f15d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OCR" minOccurs="0"/>
                <xsd:element ref="ns2:MediaServiceDateTaken" minOccurs="0"/>
                <xsd:element ref="ns2:MediaServiceLocation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7e6e2fa-2090-445a-9e27-48e672f15d5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OCR" ma:index="1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DateTaken" ma:index="12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3" nillable="true" ma:displayName="Location" ma:internalName="MediaServiceLocation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E14D184-EE87-400C-8C23-559538620DD6}">
  <ds:schemaRefs>
    <ds:schemaRef ds:uri="http://www.w3.org/XML/1998/namespace"/>
    <ds:schemaRef ds:uri="http://schemas.microsoft.com/office/2006/documentManagement/types"/>
    <ds:schemaRef ds:uri="http://purl.org/dc/terms/"/>
    <ds:schemaRef ds:uri="http://schemas.microsoft.com/office/infopath/2007/PartnerControls"/>
    <ds:schemaRef ds:uri="http://schemas.openxmlformats.org/package/2006/metadata/core-properties"/>
    <ds:schemaRef ds:uri="http://schemas.microsoft.com/office/2006/metadata/properties"/>
    <ds:schemaRef ds:uri="27e6e2fa-2090-445a-9e27-48e672f15d5a"/>
    <ds:schemaRef ds:uri="http://purl.org/dc/dcmitype/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9614F285-0ECE-496A-846D-C24C57FDD2A3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7e6e2fa-2090-445a-9e27-48e672f15d5a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EC60A9F6-A06E-4A99-8ABE-696117D4B85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50521</TotalTime>
  <Words>892</Words>
  <Application>Microsoft Office PowerPoint</Application>
  <PresentationFormat>사용자 지정</PresentationFormat>
  <Paragraphs>135</Paragraphs>
  <Slides>6</Slides>
  <Notes>5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6" baseType="lpstr">
      <vt:lpstr>나눔스퀘어</vt:lpstr>
      <vt:lpstr>나눔바른고딕</vt:lpstr>
      <vt:lpstr>나눔스퀘어 ExtraBold</vt:lpstr>
      <vt:lpstr>맑은 고딕</vt:lpstr>
      <vt:lpstr>Arial</vt:lpstr>
      <vt:lpstr>Calibri</vt:lpstr>
      <vt:lpstr>Wingdings</vt:lpstr>
      <vt:lpstr>나눔스퀘어 Bold</vt:lpstr>
      <vt:lpstr>Calibri Light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cocoa</dc:creator>
  <cp:lastModifiedBy>Inc SMARTCORE</cp:lastModifiedBy>
  <cp:revision>1695</cp:revision>
  <cp:lastPrinted>2020-09-03T05:34:22Z</cp:lastPrinted>
  <dcterms:created xsi:type="dcterms:W3CDTF">2018-05-11T06:43:19Z</dcterms:created>
  <dcterms:modified xsi:type="dcterms:W3CDTF">2026-03-18T08:22:50Z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0x01010081EAD90FDAE05D4DAC9A3F88F835C177</vt:lpwstr>
  </property>
</Properties>
</file>